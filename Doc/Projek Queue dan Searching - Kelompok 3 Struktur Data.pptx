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swald Bold" charset="1" panose="00000800000000000000"/>
      <p:regular r:id="rId21"/>
    </p:embeddedFont>
    <p:embeddedFont>
      <p:font typeface="Oswald" charset="1" panose="00000500000000000000"/>
      <p:regular r:id="rId22"/>
    </p:embeddedFont>
    <p:embeddedFont>
      <p:font typeface="Arimo" charset="1" panose="020B0604020202020204"/>
      <p:regular r:id="rId23"/>
    </p:embeddedFont>
    <p:embeddedFont>
      <p:font typeface="Arimo Bold" charset="1" panose="020B07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true" rot="0">
            <a:off x="0" y="8386446"/>
            <a:ext cx="4378275" cy="3295647"/>
          </a:xfrm>
          <a:custGeom>
            <a:avLst/>
            <a:gdLst/>
            <a:ahLst/>
            <a:cxnLst/>
            <a:rect r="r" b="b" t="t" l="l"/>
            <a:pathLst>
              <a:path h="3295647" w="4378275">
                <a:moveTo>
                  <a:pt x="0" y="3295647"/>
                </a:moveTo>
                <a:lnTo>
                  <a:pt x="4378275" y="3295647"/>
                </a:lnTo>
                <a:lnTo>
                  <a:pt x="4378275" y="0"/>
                </a:lnTo>
                <a:lnTo>
                  <a:pt x="0" y="0"/>
                </a:lnTo>
                <a:lnTo>
                  <a:pt x="0" y="3295647"/>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769278" y="6996198"/>
            <a:ext cx="2667150" cy="2251198"/>
            <a:chOff x="0" y="0"/>
            <a:chExt cx="955489" cy="806477"/>
          </a:xfrm>
        </p:grpSpPr>
        <p:sp>
          <p:nvSpPr>
            <p:cNvPr name="Freeform 4" id="4"/>
            <p:cNvSpPr/>
            <p:nvPr/>
          </p:nvSpPr>
          <p:spPr>
            <a:xfrm flipH="false" flipV="false" rot="0">
              <a:off x="0" y="0"/>
              <a:ext cx="955489" cy="806477"/>
            </a:xfrm>
            <a:custGeom>
              <a:avLst/>
              <a:gdLst/>
              <a:ahLst/>
              <a:cxnLst/>
              <a:rect r="r" b="b" t="t" l="l"/>
              <a:pathLst>
                <a:path h="806477" w="955489">
                  <a:moveTo>
                    <a:pt x="81275" y="0"/>
                  </a:moveTo>
                  <a:lnTo>
                    <a:pt x="874214" y="0"/>
                  </a:lnTo>
                  <a:cubicBezTo>
                    <a:pt x="919101" y="0"/>
                    <a:pt x="955489" y="36388"/>
                    <a:pt x="955489" y="81275"/>
                  </a:cubicBezTo>
                  <a:lnTo>
                    <a:pt x="955489" y="725202"/>
                  </a:lnTo>
                  <a:cubicBezTo>
                    <a:pt x="955489" y="770089"/>
                    <a:pt x="919101" y="806477"/>
                    <a:pt x="874214" y="806477"/>
                  </a:cubicBezTo>
                  <a:lnTo>
                    <a:pt x="81275" y="806477"/>
                  </a:lnTo>
                  <a:cubicBezTo>
                    <a:pt x="36388" y="806477"/>
                    <a:pt x="0" y="770089"/>
                    <a:pt x="0" y="725202"/>
                  </a:cubicBezTo>
                  <a:lnTo>
                    <a:pt x="0" y="81275"/>
                  </a:lnTo>
                  <a:cubicBezTo>
                    <a:pt x="0" y="36388"/>
                    <a:pt x="36388" y="0"/>
                    <a:pt x="81275" y="0"/>
                  </a:cubicBezTo>
                  <a:close/>
                </a:path>
              </a:pathLst>
            </a:custGeom>
            <a:gradFill rotWithShape="true">
              <a:gsLst>
                <a:gs pos="0">
                  <a:srgbClr val="82FBFF">
                    <a:alpha val="100000"/>
                  </a:srgbClr>
                </a:gs>
                <a:gs pos="100000">
                  <a:srgbClr val="D1FEFF">
                    <a:alpha val="100000"/>
                  </a:srgbClr>
                </a:gs>
              </a:gsLst>
              <a:lin ang="0"/>
            </a:gradFill>
          </p:spPr>
        </p:sp>
        <p:sp>
          <p:nvSpPr>
            <p:cNvPr name="TextBox 5" id="5"/>
            <p:cNvSpPr txBox="true"/>
            <p:nvPr/>
          </p:nvSpPr>
          <p:spPr>
            <a:xfrm>
              <a:off x="0" y="-38100"/>
              <a:ext cx="955489" cy="84457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6996198"/>
            <a:ext cx="4006317" cy="2251198"/>
            <a:chOff x="0" y="0"/>
            <a:chExt cx="1435237" cy="806477"/>
          </a:xfrm>
        </p:grpSpPr>
        <p:sp>
          <p:nvSpPr>
            <p:cNvPr name="Freeform 7" id="7"/>
            <p:cNvSpPr/>
            <p:nvPr/>
          </p:nvSpPr>
          <p:spPr>
            <a:xfrm flipH="false" flipV="false" rot="0">
              <a:off x="0" y="0"/>
              <a:ext cx="1435237" cy="806477"/>
            </a:xfrm>
            <a:custGeom>
              <a:avLst/>
              <a:gdLst/>
              <a:ahLst/>
              <a:cxnLst/>
              <a:rect r="r" b="b" t="t" l="l"/>
              <a:pathLst>
                <a:path h="806477" w="1435237">
                  <a:moveTo>
                    <a:pt x="54108" y="0"/>
                  </a:moveTo>
                  <a:lnTo>
                    <a:pt x="1381129" y="0"/>
                  </a:lnTo>
                  <a:cubicBezTo>
                    <a:pt x="1411012" y="0"/>
                    <a:pt x="1435237" y="24225"/>
                    <a:pt x="1435237" y="54108"/>
                  </a:cubicBezTo>
                  <a:lnTo>
                    <a:pt x="1435237" y="752369"/>
                  </a:lnTo>
                  <a:cubicBezTo>
                    <a:pt x="1435237" y="782252"/>
                    <a:pt x="1411012" y="806477"/>
                    <a:pt x="1381129" y="806477"/>
                  </a:cubicBezTo>
                  <a:lnTo>
                    <a:pt x="54108" y="806477"/>
                  </a:lnTo>
                  <a:cubicBezTo>
                    <a:pt x="24225" y="806477"/>
                    <a:pt x="0" y="782252"/>
                    <a:pt x="0" y="752369"/>
                  </a:cubicBezTo>
                  <a:lnTo>
                    <a:pt x="0" y="54108"/>
                  </a:lnTo>
                  <a:cubicBezTo>
                    <a:pt x="0" y="24225"/>
                    <a:pt x="24225" y="0"/>
                    <a:pt x="54108" y="0"/>
                  </a:cubicBezTo>
                  <a:close/>
                </a:path>
              </a:pathLst>
            </a:custGeom>
            <a:gradFill rotWithShape="true">
              <a:gsLst>
                <a:gs pos="0">
                  <a:srgbClr val="82FBFF">
                    <a:alpha val="100000"/>
                  </a:srgbClr>
                </a:gs>
                <a:gs pos="100000">
                  <a:srgbClr val="D1FEFF">
                    <a:alpha val="100000"/>
                  </a:srgbClr>
                </a:gs>
              </a:gsLst>
              <a:lin ang="0"/>
            </a:gradFill>
          </p:spPr>
        </p:sp>
        <p:sp>
          <p:nvSpPr>
            <p:cNvPr name="TextBox 8" id="8"/>
            <p:cNvSpPr txBox="true"/>
            <p:nvPr/>
          </p:nvSpPr>
          <p:spPr>
            <a:xfrm>
              <a:off x="0" y="-38100"/>
              <a:ext cx="1435237" cy="84457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144500" y="0"/>
            <a:ext cx="10287000" cy="102870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4291235" y="6742153"/>
            <a:ext cx="2968065" cy="2984343"/>
          </a:xfrm>
          <a:custGeom>
            <a:avLst/>
            <a:gdLst/>
            <a:ahLst/>
            <a:cxnLst/>
            <a:rect r="r" b="b" t="t" l="l"/>
            <a:pathLst>
              <a:path h="2984343" w="2968065">
                <a:moveTo>
                  <a:pt x="0" y="0"/>
                </a:moveTo>
                <a:lnTo>
                  <a:pt x="2968065" y="0"/>
                </a:lnTo>
                <a:lnTo>
                  <a:pt x="2968065" y="2984343"/>
                </a:lnTo>
                <a:lnTo>
                  <a:pt x="0" y="29843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2321298" y="7016317"/>
            <a:ext cx="2422727" cy="2436014"/>
          </a:xfrm>
          <a:custGeom>
            <a:avLst/>
            <a:gdLst/>
            <a:ahLst/>
            <a:cxnLst/>
            <a:rect r="r" b="b" t="t" l="l"/>
            <a:pathLst>
              <a:path h="2436014" w="2422727">
                <a:moveTo>
                  <a:pt x="0" y="0"/>
                </a:moveTo>
                <a:lnTo>
                  <a:pt x="2422727" y="0"/>
                </a:lnTo>
                <a:lnTo>
                  <a:pt x="2422727" y="2436014"/>
                </a:lnTo>
                <a:lnTo>
                  <a:pt x="0" y="24360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0622556" y="7221252"/>
            <a:ext cx="2015093" cy="2026145"/>
          </a:xfrm>
          <a:custGeom>
            <a:avLst/>
            <a:gdLst/>
            <a:ahLst/>
            <a:cxnLst/>
            <a:rect r="r" b="b" t="t" l="l"/>
            <a:pathLst>
              <a:path h="2026145" w="2015093">
                <a:moveTo>
                  <a:pt x="0" y="0"/>
                </a:moveTo>
                <a:lnTo>
                  <a:pt x="2015092" y="0"/>
                </a:lnTo>
                <a:lnTo>
                  <a:pt x="2015092" y="2026144"/>
                </a:lnTo>
                <a:lnTo>
                  <a:pt x="0" y="20261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157064" y="-1486756"/>
            <a:ext cx="5466522" cy="4114800"/>
          </a:xfrm>
          <a:custGeom>
            <a:avLst/>
            <a:gdLst/>
            <a:ahLst/>
            <a:cxnLst/>
            <a:rect r="r" b="b" t="t" l="l"/>
            <a:pathLst>
              <a:path h="4114800" w="5466522">
                <a:moveTo>
                  <a:pt x="0" y="0"/>
                </a:moveTo>
                <a:lnTo>
                  <a:pt x="5466521" y="0"/>
                </a:lnTo>
                <a:lnTo>
                  <a:pt x="546652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028700" y="2986486"/>
            <a:ext cx="15781703" cy="3427727"/>
          </a:xfrm>
          <a:prstGeom prst="rect">
            <a:avLst/>
          </a:prstGeom>
        </p:spPr>
        <p:txBody>
          <a:bodyPr anchor="t" rtlCol="false" tIns="0" lIns="0" bIns="0" rIns="0">
            <a:spAutoFit/>
          </a:bodyPr>
          <a:lstStyle/>
          <a:p>
            <a:pPr algn="l">
              <a:lnSpc>
                <a:spcPts val="6699"/>
              </a:lnSpc>
            </a:pPr>
            <a:r>
              <a:rPr lang="en-US" b="true" sz="6699" spc="-200">
                <a:gradFill>
                  <a:gsLst>
                    <a:gs pos="0">
                      <a:srgbClr val="82FBFF">
                        <a:alpha val="100000"/>
                      </a:srgbClr>
                    </a:gs>
                    <a:gs pos="100000">
                      <a:srgbClr val="D1FEFF">
                        <a:alpha val="100000"/>
                      </a:srgbClr>
                    </a:gs>
                  </a:gsLst>
                  <a:lin ang="0"/>
                </a:gradFill>
                <a:latin typeface="Oswald Bold"/>
                <a:ea typeface="Oswald Bold"/>
                <a:cs typeface="Oswald Bold"/>
                <a:sym typeface="Oswald Bold"/>
              </a:rPr>
              <a:t>SIMULASI PENERAPAN STRUKTUR DATA QUEUE DAN ALGORITMA SEQUENTIAL SEARCHING PADA SISTEM MANAJEMEN OPERASIONAL KANTIN BERBASIS KOTLIN</a:t>
            </a:r>
          </a:p>
        </p:txBody>
      </p:sp>
      <p:sp>
        <p:nvSpPr>
          <p:cNvPr name="Freeform 17" id="17"/>
          <p:cNvSpPr/>
          <p:nvPr/>
        </p:nvSpPr>
        <p:spPr>
          <a:xfrm flipH="false" flipV="false" rot="0">
            <a:off x="14311907" y="4594670"/>
            <a:ext cx="5894787" cy="1661258"/>
          </a:xfrm>
          <a:custGeom>
            <a:avLst/>
            <a:gdLst/>
            <a:ahLst/>
            <a:cxnLst/>
            <a:rect r="r" b="b" t="t" l="l"/>
            <a:pathLst>
              <a:path h="1661258" w="5894787">
                <a:moveTo>
                  <a:pt x="0" y="0"/>
                </a:moveTo>
                <a:lnTo>
                  <a:pt x="5894786" y="0"/>
                </a:lnTo>
                <a:lnTo>
                  <a:pt x="5894786" y="1661258"/>
                </a:lnTo>
                <a:lnTo>
                  <a:pt x="0" y="16612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295340" y="7345077"/>
            <a:ext cx="6141088" cy="1708785"/>
          </a:xfrm>
          <a:prstGeom prst="rect">
            <a:avLst/>
          </a:prstGeom>
        </p:spPr>
        <p:txBody>
          <a:bodyPr anchor="t" rtlCol="false" tIns="0" lIns="0" bIns="0" rIns="0">
            <a:spAutoFit/>
          </a:bodyPr>
          <a:lstStyle/>
          <a:p>
            <a:pPr algn="l">
              <a:lnSpc>
                <a:spcPts val="2220"/>
              </a:lnSpc>
            </a:pPr>
            <a:r>
              <a:rPr lang="en-US" b="true" sz="3000" spc="-89">
                <a:gradFill>
                  <a:gsLst>
                    <a:gs pos="0">
                      <a:srgbClr val="00378B">
                        <a:alpha val="100000"/>
                      </a:srgbClr>
                    </a:gs>
                    <a:gs pos="100000">
                      <a:srgbClr val="001C47">
                        <a:alpha val="100000"/>
                      </a:srgbClr>
                    </a:gs>
                  </a:gsLst>
                  <a:path path="circle">
                    <a:fillToRect l="50000" r="50000" t="50000" b="50000"/>
                  </a:path>
                </a:gradFill>
                <a:latin typeface="Oswald Bold"/>
                <a:ea typeface="Oswald Bold"/>
                <a:cs typeface="Oswald Bold"/>
                <a:sym typeface="Oswald Bold"/>
              </a:rPr>
              <a:t>1.   RADISA ARISANDI           (1062581)</a:t>
            </a:r>
          </a:p>
          <a:p>
            <a:pPr algn="l">
              <a:lnSpc>
                <a:spcPts val="2220"/>
              </a:lnSpc>
            </a:pPr>
          </a:p>
          <a:p>
            <a:pPr algn="l">
              <a:lnSpc>
                <a:spcPts val="2220"/>
              </a:lnSpc>
            </a:pPr>
            <a:r>
              <a:rPr lang="en-US" b="true" sz="3000" spc="-89">
                <a:gradFill>
                  <a:gsLst>
                    <a:gs pos="0">
                      <a:srgbClr val="00378B">
                        <a:alpha val="100000"/>
                      </a:srgbClr>
                    </a:gs>
                    <a:gs pos="100000">
                      <a:srgbClr val="001C47">
                        <a:alpha val="100000"/>
                      </a:srgbClr>
                    </a:gs>
                  </a:gsLst>
                  <a:path path="circle">
                    <a:fillToRect l="50000" r="50000" t="50000" b="50000"/>
                  </a:path>
                </a:gradFill>
                <a:latin typeface="Oswald Bold"/>
                <a:ea typeface="Oswald Bold"/>
                <a:cs typeface="Oswald Bold"/>
                <a:sym typeface="Oswald Bold"/>
              </a:rPr>
              <a:t>2.   Riduan                           (1062584)</a:t>
            </a:r>
          </a:p>
          <a:p>
            <a:pPr algn="l">
              <a:lnSpc>
                <a:spcPts val="2220"/>
              </a:lnSpc>
            </a:pPr>
          </a:p>
          <a:p>
            <a:pPr algn="l">
              <a:lnSpc>
                <a:spcPts val="2220"/>
              </a:lnSpc>
            </a:pPr>
            <a:r>
              <a:rPr lang="en-US" b="true" sz="3000" spc="-89">
                <a:gradFill>
                  <a:gsLst>
                    <a:gs pos="0">
                      <a:srgbClr val="00378B">
                        <a:alpha val="100000"/>
                      </a:srgbClr>
                    </a:gs>
                    <a:gs pos="100000">
                      <a:srgbClr val="001C47">
                        <a:alpha val="100000"/>
                      </a:srgbClr>
                    </a:gs>
                  </a:gsLst>
                  <a:path path="circle">
                    <a:fillToRect l="50000" r="50000" t="50000" b="50000"/>
                  </a:path>
                </a:gradFill>
                <a:latin typeface="Oswald Bold"/>
                <a:ea typeface="Oswald Bold"/>
                <a:cs typeface="Oswald Bold"/>
                <a:sym typeface="Oswald Bold"/>
              </a:rPr>
              <a:t>3.   Viona Diva Shifana      (1062589)</a:t>
            </a:r>
          </a:p>
          <a:p>
            <a:pPr algn="l">
              <a:lnSpc>
                <a:spcPts val="2220"/>
              </a:lnSpc>
            </a:pPr>
          </a:p>
        </p:txBody>
      </p:sp>
      <p:grpSp>
        <p:nvGrpSpPr>
          <p:cNvPr name="Group 19" id="19"/>
          <p:cNvGrpSpPr/>
          <p:nvPr/>
        </p:nvGrpSpPr>
        <p:grpSpPr>
          <a:xfrm rot="0">
            <a:off x="211536" y="241100"/>
            <a:ext cx="9115485" cy="787600"/>
            <a:chOff x="0" y="0"/>
            <a:chExt cx="12153979" cy="1050133"/>
          </a:xfrm>
        </p:grpSpPr>
        <p:sp>
          <p:nvSpPr>
            <p:cNvPr name="Freeform 20" id="2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10"/>
              <a:stretch>
                <a:fillRect l="0" t="0" r="0" b="0"/>
              </a:stretch>
            </a:blipFill>
          </p:spPr>
        </p:sp>
        <p:sp>
          <p:nvSpPr>
            <p:cNvPr name="TextBox 21" id="2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68009" y="2915559"/>
            <a:ext cx="16191291" cy="5864225"/>
          </a:xfrm>
          <a:prstGeom prst="rect">
            <a:avLst/>
          </a:prstGeom>
        </p:spPr>
        <p:txBody>
          <a:bodyPr anchor="t" rtlCol="false" tIns="0" lIns="0" bIns="0" rIns="0">
            <a:spAutoFit/>
          </a:bodyPr>
          <a:lstStyle/>
          <a:p>
            <a:pPr algn="just">
              <a:lnSpc>
                <a:spcPts val="3849"/>
              </a:lnSpc>
            </a:pPr>
            <a:r>
              <a:rPr lang="en-US" sz="3499" spc="-104">
                <a:solidFill>
                  <a:srgbClr val="FFFFFF"/>
                </a:solidFill>
                <a:latin typeface="Arimo"/>
                <a:ea typeface="Arimo"/>
                <a:cs typeface="Arimo"/>
                <a:sym typeface="Arimo"/>
              </a:rPr>
              <a:t>Kantin kampus merupakan fasilitas yang setiap hari melayani banyak mahasiswa, terutama pada jam istirahat ketika jumlah pelanggan meningkat secara bersamaan. Tanpa mekanisme antrean yang jelas, proses pelayanan menjadi tidak teratur, rawan terjadi kesalahan urutan pelayanan, serta menyulitkan petugas kantin dalam mencatat dan mencari data pelanggan yang sedang menunggu.</a:t>
            </a:r>
          </a:p>
          <a:p>
            <a:pPr algn="just">
              <a:lnSpc>
                <a:spcPts val="3849"/>
              </a:lnSpc>
            </a:pPr>
          </a:p>
          <a:p>
            <a:pPr algn="just">
              <a:lnSpc>
                <a:spcPts val="3849"/>
              </a:lnSpc>
            </a:pPr>
            <a:r>
              <a:rPr lang="en-US" sz="3499" spc="-104">
                <a:solidFill>
                  <a:srgbClr val="FFFFFF"/>
                </a:solidFill>
                <a:latin typeface="Arimo"/>
                <a:ea typeface="Arimo"/>
                <a:cs typeface="Arimo"/>
                <a:sym typeface="Arimo"/>
              </a:rPr>
              <a:t>Permasalahan tersebut dapat diselesaikan dengan menerapkan konsep struktur data Queue (antrean) yang bekerja berdasarkan prinsip First In First Out (FIFO), yaitu pelanggan yang datang lebih dahulu akan dilayani lebih dahulu. Selain itu, untuk mempermudah petugas dalam menemukan data pelanggan tertentu di dalam antrean, digunakan algoritma Sequential Searching yang melakukan pencarian data secara berurutan dari elemen pertama hingga elemen yang dicari ditemukan. </a:t>
            </a:r>
          </a:p>
        </p:txBody>
      </p:sp>
      <p:sp>
        <p:nvSpPr>
          <p:cNvPr name="TextBox 6" id="6"/>
          <p:cNvSpPr txBox="true"/>
          <p:nvPr/>
        </p:nvSpPr>
        <p:spPr>
          <a:xfrm rot="0">
            <a:off x="3098320" y="1831461"/>
            <a:ext cx="9995170" cy="800195"/>
          </a:xfrm>
          <a:prstGeom prst="rect">
            <a:avLst/>
          </a:prstGeom>
        </p:spPr>
        <p:txBody>
          <a:bodyPr anchor="t" rtlCol="false" tIns="0" lIns="0" bIns="0" rIns="0">
            <a:spAutoFit/>
          </a:bodyPr>
          <a:lstStyle/>
          <a:p>
            <a:pPr algn="l">
              <a:lnSpc>
                <a:spcPts val="6003"/>
              </a:lnSpc>
            </a:pPr>
            <a:r>
              <a:rPr lang="en-US" b="true" sz="6003" spc="-180">
                <a:solidFill>
                  <a:srgbClr val="FFFFFF"/>
                </a:solidFill>
                <a:latin typeface="Oswald Bold"/>
                <a:ea typeface="Oswald Bold"/>
                <a:cs typeface="Oswald Bold"/>
                <a:sym typeface="Oswald Bold"/>
              </a:rPr>
              <a:t>BELAKANG MASALAH</a:t>
            </a:r>
          </a:p>
        </p:txBody>
      </p:sp>
      <p:sp>
        <p:nvSpPr>
          <p:cNvPr name="TextBox 7" id="7"/>
          <p:cNvSpPr txBox="true"/>
          <p:nvPr/>
        </p:nvSpPr>
        <p:spPr>
          <a:xfrm rot="0">
            <a:off x="1028700" y="1831461"/>
            <a:ext cx="3747847" cy="800195"/>
          </a:xfrm>
          <a:prstGeom prst="rect">
            <a:avLst/>
          </a:prstGeom>
        </p:spPr>
        <p:txBody>
          <a:bodyPr anchor="t" rtlCol="false" tIns="0" lIns="0" bIns="0" rIns="0">
            <a:spAutoFit/>
          </a:bodyPr>
          <a:lstStyle/>
          <a:p>
            <a:pPr algn="l">
              <a:lnSpc>
                <a:spcPts val="6003"/>
              </a:lnSpc>
            </a:pPr>
            <a:r>
              <a:rPr lang="en-US" b="true" sz="6003" spc="-180">
                <a:gradFill>
                  <a:gsLst>
                    <a:gs pos="0">
                      <a:srgbClr val="82FBFF">
                        <a:alpha val="100000"/>
                      </a:srgbClr>
                    </a:gs>
                    <a:gs pos="100000">
                      <a:srgbClr val="D1FEFF">
                        <a:alpha val="100000"/>
                      </a:srgbClr>
                    </a:gs>
                  </a:gsLst>
                  <a:lin ang="0"/>
                </a:gradFill>
                <a:latin typeface="Oswald Bold"/>
                <a:ea typeface="Oswald Bold"/>
                <a:cs typeface="Oswald Bold"/>
                <a:sym typeface="Oswald Bold"/>
              </a:rPr>
              <a:t>LATAR</a:t>
            </a:r>
          </a:p>
        </p:txBody>
      </p:sp>
      <p:sp>
        <p:nvSpPr>
          <p:cNvPr name="Freeform 8" id="8"/>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8942349"/>
            <a:ext cx="5036894" cy="631901"/>
          </a:xfrm>
          <a:custGeom>
            <a:avLst/>
            <a:gdLst/>
            <a:ahLst/>
            <a:cxnLst/>
            <a:rect r="r" b="b" t="t" l="l"/>
            <a:pathLst>
              <a:path h="631901" w="5036894">
                <a:moveTo>
                  <a:pt x="0" y="0"/>
                </a:moveTo>
                <a:lnTo>
                  <a:pt x="5036894" y="0"/>
                </a:lnTo>
                <a:lnTo>
                  <a:pt x="5036894" y="631902"/>
                </a:lnTo>
                <a:lnTo>
                  <a:pt x="0" y="6319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211745" y="241100"/>
            <a:ext cx="9124800" cy="787600"/>
            <a:chOff x="0" y="0"/>
            <a:chExt cx="12166400" cy="1050133"/>
          </a:xfrm>
        </p:grpSpPr>
        <p:sp>
          <p:nvSpPr>
            <p:cNvPr name="Freeform 13" id="13"/>
            <p:cNvSpPr/>
            <p:nvPr/>
          </p:nvSpPr>
          <p:spPr>
            <a:xfrm flipH="false" flipV="false" rot="0">
              <a:off x="0" y="0"/>
              <a:ext cx="1548588" cy="1050133"/>
            </a:xfrm>
            <a:custGeom>
              <a:avLst/>
              <a:gdLst/>
              <a:ahLst/>
              <a:cxnLst/>
              <a:rect r="r" b="b" t="t" l="l"/>
              <a:pathLst>
                <a:path h="1050133" w="1548588">
                  <a:moveTo>
                    <a:pt x="0" y="0"/>
                  </a:moveTo>
                  <a:lnTo>
                    <a:pt x="1548588" y="0"/>
                  </a:lnTo>
                  <a:lnTo>
                    <a:pt x="1548588" y="1050133"/>
                  </a:lnTo>
                  <a:lnTo>
                    <a:pt x="0" y="1050133"/>
                  </a:lnTo>
                  <a:lnTo>
                    <a:pt x="0" y="0"/>
                  </a:lnTo>
                  <a:close/>
                </a:path>
              </a:pathLst>
            </a:custGeom>
            <a:blipFill>
              <a:blip r:embed="rId10"/>
              <a:stretch>
                <a:fillRect l="0" t="-43" r="0" b="-43"/>
              </a:stretch>
            </a:blipFill>
          </p:spPr>
        </p:sp>
        <p:sp>
          <p:nvSpPr>
            <p:cNvPr name="TextBox 14" id="14"/>
            <p:cNvSpPr txBox="true"/>
            <p:nvPr/>
          </p:nvSpPr>
          <p:spPr>
            <a:xfrm rot="0">
              <a:off x="1835952" y="270435"/>
              <a:ext cx="10330448"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1618850"/>
            <a:ext cx="14861188" cy="800195"/>
          </a:xfrm>
          <a:prstGeom prst="rect">
            <a:avLst/>
          </a:prstGeom>
        </p:spPr>
        <p:txBody>
          <a:bodyPr anchor="t" rtlCol="false" tIns="0" lIns="0" bIns="0" rIns="0">
            <a:spAutoFit/>
          </a:bodyPr>
          <a:lstStyle/>
          <a:p>
            <a:pPr algn="l">
              <a:lnSpc>
                <a:spcPts val="6003"/>
              </a:lnSpc>
            </a:pPr>
            <a:r>
              <a:rPr lang="en-US" b="true" sz="6003" spc="-180">
                <a:solidFill>
                  <a:srgbClr val="FFFFFF"/>
                </a:solidFill>
                <a:latin typeface="Oswald Bold"/>
                <a:ea typeface="Oswald Bold"/>
                <a:cs typeface="Oswald Bold"/>
                <a:sym typeface="Oswald Bold"/>
              </a:rPr>
              <a:t>RUMUSAN MASALAH DAN TUJUAN</a:t>
            </a:r>
          </a:p>
        </p:txBody>
      </p:sp>
      <p:grpSp>
        <p:nvGrpSpPr>
          <p:cNvPr name="Group 3" id="3"/>
          <p:cNvGrpSpPr/>
          <p:nvPr/>
        </p:nvGrpSpPr>
        <p:grpSpPr>
          <a:xfrm rot="0">
            <a:off x="13144500" y="0"/>
            <a:ext cx="10287000" cy="102870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144500" y="9966109"/>
            <a:ext cx="5894787" cy="1661258"/>
          </a:xfrm>
          <a:custGeom>
            <a:avLst/>
            <a:gdLst/>
            <a:ahLst/>
            <a:cxnLst/>
            <a:rect r="r" b="b" t="t" l="l"/>
            <a:pathLst>
              <a:path h="1661258" w="5894787">
                <a:moveTo>
                  <a:pt x="0" y="0"/>
                </a:moveTo>
                <a:lnTo>
                  <a:pt x="5894787" y="0"/>
                </a:lnTo>
                <a:lnTo>
                  <a:pt x="5894787" y="1661258"/>
                </a:lnTo>
                <a:lnTo>
                  <a:pt x="0" y="1661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TextBox 12" id="12"/>
          <p:cNvSpPr txBox="true"/>
          <p:nvPr/>
        </p:nvSpPr>
        <p:spPr>
          <a:xfrm rot="0">
            <a:off x="1028700" y="6402037"/>
            <a:ext cx="15826701" cy="3767455"/>
          </a:xfrm>
          <a:prstGeom prst="rect">
            <a:avLst/>
          </a:prstGeom>
        </p:spPr>
        <p:txBody>
          <a:bodyPr anchor="t" rtlCol="false" tIns="0" lIns="0" bIns="0" rIns="0">
            <a:spAutoFit/>
          </a:bodyPr>
          <a:lstStyle/>
          <a:p>
            <a:pPr algn="just">
              <a:lnSpc>
                <a:spcPts val="3739"/>
              </a:lnSpc>
            </a:pPr>
            <a:r>
              <a:rPr lang="en-US" b="true" sz="3399" spc="-101">
                <a:solidFill>
                  <a:srgbClr val="FFFFFF"/>
                </a:solidFill>
                <a:latin typeface="Arimo Bold"/>
                <a:ea typeface="Arimo Bold"/>
                <a:cs typeface="Arimo Bold"/>
                <a:sym typeface="Arimo Bold"/>
              </a:rPr>
              <a:t>Tujuan</a:t>
            </a:r>
          </a:p>
          <a:p>
            <a:pPr algn="just">
              <a:lnSpc>
                <a:spcPts val="3739"/>
              </a:lnSpc>
            </a:pPr>
            <a:r>
              <a:rPr lang="en-US" sz="3399" spc="-101">
                <a:solidFill>
                  <a:srgbClr val="FFFFFF"/>
                </a:solidFill>
                <a:latin typeface="Arimo"/>
                <a:ea typeface="Arimo"/>
                <a:cs typeface="Arimo"/>
                <a:sym typeface="Arimo"/>
              </a:rPr>
              <a:t>a. Menerapkan struktur data Queue pada studi kasus sistem antrean pelanggan kantin kampus.</a:t>
            </a:r>
          </a:p>
          <a:p>
            <a:pPr algn="just">
              <a:lnSpc>
                <a:spcPts val="3739"/>
              </a:lnSpc>
            </a:pPr>
            <a:r>
              <a:rPr lang="en-US" sz="3399" spc="-101">
                <a:solidFill>
                  <a:srgbClr val="FFFFFF"/>
                </a:solidFill>
                <a:latin typeface="Arimo"/>
                <a:ea typeface="Arimo"/>
                <a:cs typeface="Arimo"/>
                <a:sym typeface="Arimo"/>
              </a:rPr>
              <a:t>b. Menerapkan algoritma Sequential Searching untuk pencarian data pelanggan dalam antrean.</a:t>
            </a:r>
          </a:p>
          <a:p>
            <a:pPr algn="just">
              <a:lnSpc>
                <a:spcPts val="3739"/>
              </a:lnSpc>
            </a:pPr>
            <a:r>
              <a:rPr lang="en-US" sz="3399" spc="-101">
                <a:solidFill>
                  <a:srgbClr val="FFFFFF"/>
                </a:solidFill>
                <a:latin typeface="Arimo"/>
                <a:ea typeface="Arimo"/>
                <a:cs typeface="Arimo"/>
                <a:sym typeface="Arimo"/>
              </a:rPr>
              <a:t>c. Membangun program simulasi berbasis Kotlin yang mampu menambah, melayani, menampilkan, dan mencari data antrean pelanggan.</a:t>
            </a:r>
          </a:p>
          <a:p>
            <a:pPr algn="just">
              <a:lnSpc>
                <a:spcPts val="3739"/>
              </a:lnSpc>
            </a:pPr>
          </a:p>
        </p:txBody>
      </p:sp>
      <p:sp>
        <p:nvSpPr>
          <p:cNvPr name="TextBox 13" id="13"/>
          <p:cNvSpPr txBox="true"/>
          <p:nvPr/>
        </p:nvSpPr>
        <p:spPr>
          <a:xfrm rot="0">
            <a:off x="1003578" y="2625058"/>
            <a:ext cx="15851823" cy="3767455"/>
          </a:xfrm>
          <a:prstGeom prst="rect">
            <a:avLst/>
          </a:prstGeom>
        </p:spPr>
        <p:txBody>
          <a:bodyPr anchor="t" rtlCol="false" tIns="0" lIns="0" bIns="0" rIns="0">
            <a:spAutoFit/>
          </a:bodyPr>
          <a:lstStyle/>
          <a:p>
            <a:pPr algn="just">
              <a:lnSpc>
                <a:spcPts val="3739"/>
              </a:lnSpc>
            </a:pPr>
            <a:r>
              <a:rPr lang="en-US" b="true" sz="3399" spc="-101">
                <a:solidFill>
                  <a:srgbClr val="FFFFFF"/>
                </a:solidFill>
                <a:latin typeface="Arimo Bold"/>
                <a:ea typeface="Arimo Bold"/>
                <a:cs typeface="Arimo Bold"/>
                <a:sym typeface="Arimo Bold"/>
              </a:rPr>
              <a:t>Rumusan Masalah</a:t>
            </a:r>
          </a:p>
          <a:p>
            <a:pPr algn="just">
              <a:lnSpc>
                <a:spcPts val="3739"/>
              </a:lnSpc>
            </a:pPr>
            <a:r>
              <a:rPr lang="en-US" sz="3399" spc="-101">
                <a:solidFill>
                  <a:srgbClr val="FFFFFF"/>
                </a:solidFill>
                <a:latin typeface="Arimo"/>
                <a:ea typeface="Arimo"/>
                <a:cs typeface="Arimo"/>
                <a:sym typeface="Arimo"/>
              </a:rPr>
              <a:t>a. Bagaimana menerapkan struktur data Queue untuk mengelola antrean pelanggan kantin secara FIFO?</a:t>
            </a:r>
          </a:p>
          <a:p>
            <a:pPr algn="just">
              <a:lnSpc>
                <a:spcPts val="3739"/>
              </a:lnSpc>
            </a:pPr>
            <a:r>
              <a:rPr lang="en-US" sz="3399" spc="-101">
                <a:solidFill>
                  <a:srgbClr val="FFFFFF"/>
                </a:solidFill>
                <a:latin typeface="Arimo"/>
                <a:ea typeface="Arimo"/>
                <a:cs typeface="Arimo"/>
                <a:sym typeface="Arimo"/>
              </a:rPr>
              <a:t>b. Bagaimana menerapkan algoritma Sequential Searching untuk mencari data pelanggan dalam antrean?</a:t>
            </a:r>
          </a:p>
          <a:p>
            <a:pPr algn="just">
              <a:lnSpc>
                <a:spcPts val="3739"/>
              </a:lnSpc>
            </a:pPr>
            <a:r>
              <a:rPr lang="en-US" sz="3399" spc="-101">
                <a:solidFill>
                  <a:srgbClr val="FFFFFF"/>
                </a:solidFill>
                <a:latin typeface="Arimo"/>
                <a:ea typeface="Arimo"/>
                <a:cs typeface="Arimo"/>
                <a:sym typeface="Arimo"/>
              </a:rPr>
              <a:t>c. Bagaimana merancang dan mengimplementasikan program simulasi antrean kantin menggunakan bahasa pemrograman Kotlin?</a:t>
            </a:r>
          </a:p>
          <a:p>
            <a:pPr algn="just">
              <a:lnSpc>
                <a:spcPts val="373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1618850"/>
            <a:ext cx="14861188" cy="800195"/>
          </a:xfrm>
          <a:prstGeom prst="rect">
            <a:avLst/>
          </a:prstGeom>
        </p:spPr>
        <p:txBody>
          <a:bodyPr anchor="t" rtlCol="false" tIns="0" lIns="0" bIns="0" rIns="0">
            <a:spAutoFit/>
          </a:bodyPr>
          <a:lstStyle/>
          <a:p>
            <a:pPr algn="l">
              <a:lnSpc>
                <a:spcPts val="6003"/>
              </a:lnSpc>
            </a:pPr>
            <a:r>
              <a:rPr lang="en-US" b="true" sz="6003" spc="-180">
                <a:solidFill>
                  <a:srgbClr val="FFFFFF"/>
                </a:solidFill>
                <a:latin typeface="Oswald Bold"/>
                <a:ea typeface="Oswald Bold"/>
                <a:cs typeface="Oswald Bold"/>
                <a:sym typeface="Oswald Bold"/>
              </a:rPr>
              <a:t>MANFAAT DAN LANDASAN TEORI</a:t>
            </a:r>
          </a:p>
        </p:txBody>
      </p:sp>
      <p:grpSp>
        <p:nvGrpSpPr>
          <p:cNvPr name="Group 3" id="3"/>
          <p:cNvGrpSpPr/>
          <p:nvPr/>
        </p:nvGrpSpPr>
        <p:grpSpPr>
          <a:xfrm rot="0">
            <a:off x="13144500" y="0"/>
            <a:ext cx="10287000" cy="102870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144500" y="9966109"/>
            <a:ext cx="5894787" cy="1661258"/>
          </a:xfrm>
          <a:custGeom>
            <a:avLst/>
            <a:gdLst/>
            <a:ahLst/>
            <a:cxnLst/>
            <a:rect r="r" b="b" t="t" l="l"/>
            <a:pathLst>
              <a:path h="1661258" w="5894787">
                <a:moveTo>
                  <a:pt x="0" y="0"/>
                </a:moveTo>
                <a:lnTo>
                  <a:pt x="5894787" y="0"/>
                </a:lnTo>
                <a:lnTo>
                  <a:pt x="5894787" y="1661258"/>
                </a:lnTo>
                <a:lnTo>
                  <a:pt x="0" y="1661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TextBox 12" id="12"/>
          <p:cNvSpPr txBox="true"/>
          <p:nvPr/>
        </p:nvSpPr>
        <p:spPr>
          <a:xfrm rot="0">
            <a:off x="1028700" y="2552395"/>
            <a:ext cx="15545894" cy="4234180"/>
          </a:xfrm>
          <a:prstGeom prst="rect">
            <a:avLst/>
          </a:prstGeom>
        </p:spPr>
        <p:txBody>
          <a:bodyPr anchor="t" rtlCol="false" tIns="0" lIns="0" bIns="0" rIns="0">
            <a:spAutoFit/>
          </a:bodyPr>
          <a:lstStyle/>
          <a:p>
            <a:pPr algn="just">
              <a:lnSpc>
                <a:spcPts val="3739"/>
              </a:lnSpc>
            </a:pPr>
            <a:r>
              <a:rPr lang="en-US" b="true" sz="3399" spc="-101">
                <a:solidFill>
                  <a:srgbClr val="FFFFFF"/>
                </a:solidFill>
                <a:latin typeface="Arimo Bold"/>
                <a:ea typeface="Arimo Bold"/>
                <a:cs typeface="Arimo Bold"/>
                <a:sym typeface="Arimo Bold"/>
              </a:rPr>
              <a:t>Manfaat</a:t>
            </a:r>
          </a:p>
          <a:p>
            <a:pPr algn="just">
              <a:lnSpc>
                <a:spcPts val="3739"/>
              </a:lnSpc>
            </a:pPr>
            <a:r>
              <a:rPr lang="en-US" sz="3399" spc="-101">
                <a:solidFill>
                  <a:srgbClr val="FFFFFF"/>
                </a:solidFill>
                <a:latin typeface="Arimo"/>
                <a:ea typeface="Arimo"/>
                <a:cs typeface="Arimo"/>
                <a:sym typeface="Arimo"/>
              </a:rPr>
              <a:t>a. Bagi mahasiswa, laporan ini dapat menjadi sarana pembelajaran dalam memahami penerapan struktur data Queue dan algoritma Sequential Searching pada studi kasus nyata.</a:t>
            </a:r>
          </a:p>
          <a:p>
            <a:pPr algn="just">
              <a:lnSpc>
                <a:spcPts val="3739"/>
              </a:lnSpc>
            </a:pPr>
            <a:r>
              <a:rPr lang="en-US" sz="3399" spc="-101">
                <a:solidFill>
                  <a:srgbClr val="FFFFFF"/>
                </a:solidFill>
                <a:latin typeface="Arimo"/>
                <a:ea typeface="Arimo"/>
                <a:cs typeface="Arimo"/>
                <a:sym typeface="Arimo"/>
              </a:rPr>
              <a:t>b. Bagi kantin kampus, konsep yang dibahas dapat menjadi dasar pengembangan sistem antrean yang lebih tertib dan efisien.</a:t>
            </a:r>
          </a:p>
          <a:p>
            <a:pPr algn="just">
              <a:lnSpc>
                <a:spcPts val="3739"/>
              </a:lnSpc>
            </a:pPr>
            <a:r>
              <a:rPr lang="en-US" sz="3399" spc="-101">
                <a:solidFill>
                  <a:srgbClr val="FFFFFF"/>
                </a:solidFill>
                <a:latin typeface="Arimo"/>
                <a:ea typeface="Arimo"/>
                <a:cs typeface="Arimo"/>
                <a:sym typeface="Arimo"/>
              </a:rPr>
              <a:t>c. Bagi pembaca, laporan ini dapat menjadi referensi dalam mempelajari implementasi struktur data pada bahasa pemrograman Kotlin.</a:t>
            </a:r>
          </a:p>
          <a:p>
            <a:pPr algn="just">
              <a:lnSpc>
                <a:spcPts val="3739"/>
              </a:lnSpc>
            </a:pPr>
          </a:p>
        </p:txBody>
      </p:sp>
      <p:sp>
        <p:nvSpPr>
          <p:cNvPr name="TextBox 13" id="13"/>
          <p:cNvSpPr txBox="true"/>
          <p:nvPr/>
        </p:nvSpPr>
        <p:spPr>
          <a:xfrm rot="0">
            <a:off x="1009650" y="6519545"/>
            <a:ext cx="15728914" cy="3300730"/>
          </a:xfrm>
          <a:prstGeom prst="rect">
            <a:avLst/>
          </a:prstGeom>
        </p:spPr>
        <p:txBody>
          <a:bodyPr anchor="t" rtlCol="false" tIns="0" lIns="0" bIns="0" rIns="0">
            <a:spAutoFit/>
          </a:bodyPr>
          <a:lstStyle/>
          <a:p>
            <a:pPr algn="just">
              <a:lnSpc>
                <a:spcPts val="3739"/>
              </a:lnSpc>
            </a:pPr>
            <a:r>
              <a:rPr lang="en-US" b="true" sz="3399" spc="-101">
                <a:solidFill>
                  <a:srgbClr val="FFFFFF"/>
                </a:solidFill>
                <a:latin typeface="Arimo Bold"/>
                <a:ea typeface="Arimo Bold"/>
                <a:cs typeface="Arimo Bold"/>
                <a:sym typeface="Arimo Bold"/>
              </a:rPr>
              <a:t>Landasan Teori</a:t>
            </a:r>
          </a:p>
          <a:p>
            <a:pPr algn="just" marL="734059" indent="-367030" lvl="1">
              <a:lnSpc>
                <a:spcPts val="3739"/>
              </a:lnSpc>
              <a:buFont typeface="Arial"/>
              <a:buChar char="•"/>
            </a:pPr>
            <a:r>
              <a:rPr lang="en-US" sz="3399" spc="-101">
                <a:solidFill>
                  <a:srgbClr val="FFFFFF"/>
                </a:solidFill>
                <a:latin typeface="Arimo"/>
                <a:ea typeface="Arimo"/>
                <a:cs typeface="Arimo"/>
                <a:sym typeface="Arimo"/>
              </a:rPr>
              <a:t>Queue : Struktur data linear yang menerapkan prinsip FIFO (First In First Out).</a:t>
            </a:r>
          </a:p>
          <a:p>
            <a:pPr algn="just" marL="734059" indent="-367030" lvl="1">
              <a:lnSpc>
                <a:spcPts val="3739"/>
              </a:lnSpc>
              <a:buFont typeface="Arial"/>
              <a:buChar char="•"/>
            </a:pPr>
            <a:r>
              <a:rPr lang="en-US" sz="3399" spc="-101">
                <a:solidFill>
                  <a:srgbClr val="FFFFFF"/>
                </a:solidFill>
                <a:latin typeface="Arimo"/>
                <a:ea typeface="Arimo"/>
                <a:cs typeface="Arimo"/>
                <a:sym typeface="Arimo"/>
              </a:rPr>
              <a:t>Enqueue : Menambahkan data ke bagian belakang antrean.</a:t>
            </a:r>
          </a:p>
          <a:p>
            <a:pPr algn="just" marL="734059" indent="-367030" lvl="1">
              <a:lnSpc>
                <a:spcPts val="3739"/>
              </a:lnSpc>
              <a:buFont typeface="Arial"/>
              <a:buChar char="•"/>
            </a:pPr>
            <a:r>
              <a:rPr lang="en-US" sz="3399" spc="-101">
                <a:solidFill>
                  <a:srgbClr val="FFFFFF"/>
                </a:solidFill>
                <a:latin typeface="Arimo"/>
                <a:ea typeface="Arimo"/>
                <a:cs typeface="Arimo"/>
                <a:sym typeface="Arimo"/>
              </a:rPr>
              <a:t>Dequeue : Menghapus data dari bagian depan antrean.</a:t>
            </a:r>
          </a:p>
          <a:p>
            <a:pPr algn="just" marL="734059" indent="-367030" lvl="1">
              <a:lnSpc>
                <a:spcPts val="3739"/>
              </a:lnSpc>
              <a:buFont typeface="Arial"/>
              <a:buChar char="•"/>
            </a:pPr>
            <a:r>
              <a:rPr lang="en-US" sz="3399" spc="-101">
                <a:solidFill>
                  <a:srgbClr val="FFFFFF"/>
                </a:solidFill>
                <a:latin typeface="Arimo"/>
                <a:ea typeface="Arimo"/>
                <a:cs typeface="Arimo"/>
                <a:sym typeface="Arimo"/>
              </a:rPr>
              <a:t>Sequential Searching : Algoritma pencarian yang memeriksa data satu per satu hingga data ditemukan dan mencari data antrean pelanggan.</a:t>
            </a:r>
          </a:p>
          <a:p>
            <a:pPr algn="just">
              <a:lnSpc>
                <a:spcPts val="373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ALUR KERJA PROGRAM</a:t>
            </a:r>
          </a:p>
        </p:txBody>
      </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8942349"/>
            <a:ext cx="5036894" cy="631901"/>
          </a:xfrm>
          <a:custGeom>
            <a:avLst/>
            <a:gdLst/>
            <a:ahLst/>
            <a:cxnLst/>
            <a:rect r="r" b="b" t="t" l="l"/>
            <a:pathLst>
              <a:path h="631901" w="5036894">
                <a:moveTo>
                  <a:pt x="0" y="0"/>
                </a:moveTo>
                <a:lnTo>
                  <a:pt x="5036894" y="0"/>
                </a:lnTo>
                <a:lnTo>
                  <a:pt x="5036894" y="631902"/>
                </a:lnTo>
                <a:lnTo>
                  <a:pt x="0" y="6319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211536" y="241100"/>
            <a:ext cx="9115485" cy="787600"/>
            <a:chOff x="0" y="0"/>
            <a:chExt cx="12153979" cy="1050133"/>
          </a:xfrm>
        </p:grpSpPr>
        <p:sp>
          <p:nvSpPr>
            <p:cNvPr name="Freeform 11" id="11"/>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10"/>
              <a:stretch>
                <a:fillRect l="0" t="0" r="0" b="0"/>
              </a:stretch>
            </a:blipFill>
          </p:spPr>
        </p:sp>
        <p:sp>
          <p:nvSpPr>
            <p:cNvPr name="TextBox 12" id="12"/>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TextBox 13" id="13"/>
          <p:cNvSpPr txBox="true"/>
          <p:nvPr/>
        </p:nvSpPr>
        <p:spPr>
          <a:xfrm rot="0">
            <a:off x="1937594" y="2616513"/>
            <a:ext cx="13952294" cy="5101600"/>
          </a:xfrm>
          <a:prstGeom prst="rect">
            <a:avLst/>
          </a:prstGeom>
        </p:spPr>
        <p:txBody>
          <a:bodyPr anchor="t" rtlCol="false" tIns="0" lIns="0" bIns="0" rIns="0">
            <a:spAutoFit/>
          </a:bodyPr>
          <a:lstStyle/>
          <a:p>
            <a:pPr algn="l">
              <a:lnSpc>
                <a:spcPts val="3689"/>
              </a:lnSpc>
            </a:pPr>
            <a:r>
              <a:rPr lang="en-US" sz="3689" spc="-110">
                <a:solidFill>
                  <a:srgbClr val="FFFFFF"/>
                </a:solidFill>
                <a:latin typeface="Arimo"/>
                <a:ea typeface="Arimo"/>
                <a:cs typeface="Arimo"/>
                <a:sym typeface="Arimo"/>
              </a:rPr>
              <a:t>1. PROGRAM MENAMPILKAN MENU UTAMA KEPADA PETUGAS KANTIN </a:t>
            </a:r>
          </a:p>
          <a:p>
            <a:pPr algn="l">
              <a:lnSpc>
                <a:spcPts val="3689"/>
              </a:lnSpc>
            </a:pPr>
          </a:p>
          <a:p>
            <a:pPr algn="l">
              <a:lnSpc>
                <a:spcPts val="3689"/>
              </a:lnSpc>
            </a:pPr>
            <a:r>
              <a:rPr lang="en-US" sz="3689" spc="-110">
                <a:solidFill>
                  <a:srgbClr val="FFFFFF"/>
                </a:solidFill>
                <a:latin typeface="Arimo"/>
                <a:ea typeface="Arimo"/>
                <a:cs typeface="Arimo"/>
                <a:sym typeface="Arimo"/>
              </a:rPr>
              <a:t>2. PETUGAS MEMILIH SALAH SATU DARI LIMA MENU YANG TERSEDIA </a:t>
            </a:r>
          </a:p>
          <a:p>
            <a:pPr algn="l">
              <a:lnSpc>
                <a:spcPts val="3689"/>
              </a:lnSpc>
            </a:pPr>
          </a:p>
          <a:p>
            <a:pPr algn="l">
              <a:lnSpc>
                <a:spcPts val="3689"/>
              </a:lnSpc>
            </a:pPr>
            <a:r>
              <a:rPr lang="en-US" sz="3689" spc="-110">
                <a:solidFill>
                  <a:srgbClr val="FFFFFF"/>
                </a:solidFill>
                <a:latin typeface="Arimo"/>
                <a:ea typeface="Arimo"/>
                <a:cs typeface="Arimo"/>
                <a:sym typeface="Arimo"/>
              </a:rPr>
              <a:t>3. SISTEM MENJALANKAN PROSES SESUAI MENU (TAMBAH, LAYANI, TAMPILKAN, CARI, ATAU KELUAR) </a:t>
            </a:r>
          </a:p>
          <a:p>
            <a:pPr algn="l">
              <a:lnSpc>
                <a:spcPts val="3689"/>
              </a:lnSpc>
            </a:pPr>
          </a:p>
          <a:p>
            <a:pPr algn="l">
              <a:lnSpc>
                <a:spcPts val="3689"/>
              </a:lnSpc>
              <a:spcBef>
                <a:spcPct val="0"/>
              </a:spcBef>
            </a:pPr>
            <a:r>
              <a:rPr lang="en-US" sz="3689" spc="-110">
                <a:solidFill>
                  <a:srgbClr val="FFFFFF"/>
                </a:solidFill>
                <a:latin typeface="Arimo"/>
                <a:ea typeface="Arimo"/>
                <a:cs typeface="Arimo"/>
                <a:sym typeface="Arimo"/>
              </a:rPr>
              <a:t>4. PROSES BERULANG HINGGA PETUGAS MEMILIH MENU KELUAR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8942349"/>
            <a:ext cx="5036894" cy="631901"/>
          </a:xfrm>
          <a:custGeom>
            <a:avLst/>
            <a:gdLst/>
            <a:ahLst/>
            <a:cxnLst/>
            <a:rect r="r" b="b" t="t" l="l"/>
            <a:pathLst>
              <a:path h="631901" w="5036894">
                <a:moveTo>
                  <a:pt x="0" y="0"/>
                </a:moveTo>
                <a:lnTo>
                  <a:pt x="5036894" y="0"/>
                </a:lnTo>
                <a:lnTo>
                  <a:pt x="5036894" y="631902"/>
                </a:lnTo>
                <a:lnTo>
                  <a:pt x="0" y="6319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10"/>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2" id="12"/>
          <p:cNvSpPr/>
          <p:nvPr/>
        </p:nvSpPr>
        <p:spPr>
          <a:xfrm flipH="false" flipV="false" rot="0">
            <a:off x="1028700" y="2405623"/>
            <a:ext cx="5874104" cy="7359879"/>
          </a:xfrm>
          <a:custGeom>
            <a:avLst/>
            <a:gdLst/>
            <a:ahLst/>
            <a:cxnLst/>
            <a:rect r="r" b="b" t="t" l="l"/>
            <a:pathLst>
              <a:path h="7359879" w="5874104">
                <a:moveTo>
                  <a:pt x="0" y="0"/>
                </a:moveTo>
                <a:lnTo>
                  <a:pt x="5874104" y="0"/>
                </a:lnTo>
                <a:lnTo>
                  <a:pt x="5874104" y="7359879"/>
                </a:lnTo>
                <a:lnTo>
                  <a:pt x="0" y="7359879"/>
                </a:lnTo>
                <a:lnTo>
                  <a:pt x="0" y="0"/>
                </a:lnTo>
                <a:close/>
              </a:path>
            </a:pathLst>
          </a:custGeom>
          <a:blipFill>
            <a:blip r:embed="rId11"/>
            <a:stretch>
              <a:fillRect l="0" t="0" r="0" b="0"/>
            </a:stretch>
          </a:blipFill>
        </p:spPr>
      </p:sp>
      <p:sp>
        <p:nvSpPr>
          <p:cNvPr name="TextBox 13" id="13"/>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IMPLEMENTASI KODE </a:t>
            </a:r>
          </a:p>
        </p:txBody>
      </p:sp>
      <p:sp>
        <p:nvSpPr>
          <p:cNvPr name="TextBox 14" id="14"/>
          <p:cNvSpPr txBox="true"/>
          <p:nvPr/>
        </p:nvSpPr>
        <p:spPr>
          <a:xfrm rot="0">
            <a:off x="7259386" y="4197398"/>
            <a:ext cx="10377917" cy="3848257"/>
          </a:xfrm>
          <a:prstGeom prst="rect">
            <a:avLst/>
          </a:prstGeom>
        </p:spPr>
        <p:txBody>
          <a:bodyPr anchor="t" rtlCol="false" tIns="0" lIns="0" bIns="0" rIns="0">
            <a:spAutoFit/>
          </a:bodyPr>
          <a:lstStyle/>
          <a:p>
            <a:pPr algn="l">
              <a:lnSpc>
                <a:spcPts val="3006"/>
              </a:lnSpc>
              <a:spcBef>
                <a:spcPct val="0"/>
              </a:spcBef>
            </a:pPr>
            <a:r>
              <a:rPr lang="en-US" b="true" sz="3006" spc="-90">
                <a:solidFill>
                  <a:srgbClr val="FFFFFF"/>
                </a:solidFill>
                <a:latin typeface="Arimo Bold"/>
                <a:ea typeface="Arimo Bold"/>
                <a:cs typeface="Arimo Bold"/>
                <a:sym typeface="Arimo Bold"/>
              </a:rPr>
              <a:t>A. MENU TAMBAH PELANGGAN (ENQUEUE)</a:t>
            </a:r>
          </a:p>
          <a:p>
            <a:pPr algn="l">
              <a:lnSpc>
                <a:spcPts val="3006"/>
              </a:lnSpc>
              <a:spcBef>
                <a:spcPct val="0"/>
              </a:spcBef>
            </a:pPr>
          </a:p>
          <a:p>
            <a:pPr algn="l">
              <a:lnSpc>
                <a:spcPts val="3006"/>
              </a:lnSpc>
              <a:spcBef>
                <a:spcPct val="0"/>
              </a:spcBef>
            </a:pPr>
            <a:r>
              <a:rPr lang="en-US" sz="3006" spc="-90">
                <a:solidFill>
                  <a:srgbClr val="FFFFFF"/>
                </a:solidFill>
                <a:latin typeface="Arimo"/>
                <a:ea typeface="Arimo"/>
                <a:cs typeface="Arimo"/>
                <a:sym typeface="Arimo"/>
              </a:rPr>
              <a:t>READLINE()?.TRIM() ?: "" → MEMBACA NAMA PELANGGAN DAN MENGHAPUS SPASI BERLEBIH.</a:t>
            </a:r>
          </a:p>
          <a:p>
            <a:pPr algn="l">
              <a:lnSpc>
                <a:spcPts val="3006"/>
              </a:lnSpc>
              <a:spcBef>
                <a:spcPct val="0"/>
              </a:spcBef>
            </a:pPr>
          </a:p>
          <a:p>
            <a:pPr algn="l">
              <a:lnSpc>
                <a:spcPts val="3006"/>
              </a:lnSpc>
              <a:spcBef>
                <a:spcPct val="0"/>
              </a:spcBef>
            </a:pPr>
            <a:r>
              <a:rPr lang="en-US" sz="3006" spc="-90">
                <a:solidFill>
                  <a:srgbClr val="FFFFFF"/>
                </a:solidFill>
                <a:latin typeface="Arimo"/>
                <a:ea typeface="Arimo"/>
                <a:cs typeface="Arimo"/>
                <a:sym typeface="Arimo"/>
              </a:rPr>
              <a:t>ISNOTEMPTY() → MEMASTIKAN NAMA TIDAK KOSONG.</a:t>
            </a:r>
          </a:p>
          <a:p>
            <a:pPr algn="l">
              <a:lnSpc>
                <a:spcPts val="3006"/>
              </a:lnSpc>
              <a:spcBef>
                <a:spcPct val="0"/>
              </a:spcBef>
            </a:pPr>
          </a:p>
          <a:p>
            <a:pPr algn="l">
              <a:lnSpc>
                <a:spcPts val="3006"/>
              </a:lnSpc>
              <a:spcBef>
                <a:spcPct val="0"/>
              </a:spcBef>
            </a:pPr>
            <a:r>
              <a:rPr lang="en-US" sz="3006" spc="-90">
                <a:solidFill>
                  <a:srgbClr val="FFFFFF"/>
                </a:solidFill>
                <a:latin typeface="Arimo"/>
                <a:ea typeface="Arimo"/>
                <a:cs typeface="Arimo"/>
                <a:sym typeface="Arimo"/>
              </a:rPr>
              <a:t>ADDLAST(NAMA) → MENAMBAHKAN PELANGGAN KE AKHIR ANTREAN SESUAI KONSEP FIFO.</a:t>
            </a:r>
          </a:p>
          <a:p>
            <a:pPr algn="l">
              <a:lnSpc>
                <a:spcPts val="300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211536" y="241100"/>
            <a:ext cx="9115485" cy="787600"/>
            <a:chOff x="0" y="0"/>
            <a:chExt cx="12153979" cy="1050133"/>
          </a:xfrm>
        </p:grpSpPr>
        <p:sp>
          <p:nvSpPr>
            <p:cNvPr name="Freeform 9" id="9"/>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0" id="10"/>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1" id="11"/>
          <p:cNvSpPr/>
          <p:nvPr/>
        </p:nvSpPr>
        <p:spPr>
          <a:xfrm flipH="false" flipV="false" rot="0">
            <a:off x="1424282" y="2405623"/>
            <a:ext cx="4245730" cy="7359879"/>
          </a:xfrm>
          <a:custGeom>
            <a:avLst/>
            <a:gdLst/>
            <a:ahLst/>
            <a:cxnLst/>
            <a:rect r="r" b="b" t="t" l="l"/>
            <a:pathLst>
              <a:path h="7359879" w="4245730">
                <a:moveTo>
                  <a:pt x="0" y="0"/>
                </a:moveTo>
                <a:lnTo>
                  <a:pt x="4245730" y="0"/>
                </a:lnTo>
                <a:lnTo>
                  <a:pt x="4245730" y="7359879"/>
                </a:lnTo>
                <a:lnTo>
                  <a:pt x="0" y="7359879"/>
                </a:lnTo>
                <a:lnTo>
                  <a:pt x="0" y="0"/>
                </a:lnTo>
                <a:close/>
              </a:path>
            </a:pathLst>
          </a:custGeom>
          <a:blipFill>
            <a:blip r:embed="rId9"/>
            <a:stretch>
              <a:fillRect l="0" t="0" r="0" b="0"/>
            </a:stretch>
          </a:blipFill>
        </p:spPr>
      </p:sp>
      <p:sp>
        <p:nvSpPr>
          <p:cNvPr name="TextBox 12" id="12"/>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IMPLEMENTASI KODE </a:t>
            </a:r>
          </a:p>
        </p:txBody>
      </p:sp>
      <p:sp>
        <p:nvSpPr>
          <p:cNvPr name="TextBox 13" id="13"/>
          <p:cNvSpPr txBox="true"/>
          <p:nvPr/>
        </p:nvSpPr>
        <p:spPr>
          <a:xfrm rot="0">
            <a:off x="6065594" y="2434198"/>
            <a:ext cx="10377917" cy="6898162"/>
          </a:xfrm>
          <a:prstGeom prst="rect">
            <a:avLst/>
          </a:prstGeom>
        </p:spPr>
        <p:txBody>
          <a:bodyPr anchor="t" rtlCol="false" tIns="0" lIns="0" bIns="0" rIns="0">
            <a:spAutoFit/>
          </a:bodyPr>
          <a:lstStyle/>
          <a:p>
            <a:pPr algn="l">
              <a:lnSpc>
                <a:spcPts val="2706"/>
              </a:lnSpc>
            </a:pPr>
            <a:r>
              <a:rPr lang="en-US" b="true" sz="2706" spc="-81">
                <a:solidFill>
                  <a:srgbClr val="FFFFFF"/>
                </a:solidFill>
                <a:latin typeface="Arimo Bold"/>
                <a:ea typeface="Arimo Bold"/>
                <a:cs typeface="Arimo Bold"/>
                <a:sym typeface="Arimo Bold"/>
              </a:rPr>
              <a:t>B. MENU LAYANI PELANGGAN (DEQUEUE)</a:t>
            </a:r>
          </a:p>
          <a:p>
            <a:pPr algn="l">
              <a:lnSpc>
                <a:spcPts val="2706"/>
              </a:lnSpc>
            </a:pPr>
          </a:p>
          <a:p>
            <a:pPr algn="l">
              <a:lnSpc>
                <a:spcPts val="2706"/>
              </a:lnSpc>
            </a:pPr>
            <a:r>
              <a:rPr lang="en-US" sz="2706" spc="-81">
                <a:solidFill>
                  <a:srgbClr val="FFFFFF"/>
                </a:solidFill>
                <a:latin typeface="Arimo"/>
                <a:ea typeface="Arimo"/>
                <a:cs typeface="Arimo"/>
                <a:sym typeface="Arimo"/>
              </a:rPr>
              <a:t>isEmpty() → Memeriksa apakah antrean masih tersedia.</a:t>
            </a:r>
          </a:p>
          <a:p>
            <a:pPr algn="l">
              <a:lnSpc>
                <a:spcPts val="2706"/>
              </a:lnSpc>
            </a:pPr>
          </a:p>
          <a:p>
            <a:pPr algn="l">
              <a:lnSpc>
                <a:spcPts val="2706"/>
              </a:lnSpc>
            </a:pPr>
            <a:r>
              <a:rPr lang="en-US" sz="2706" spc="-81">
                <a:solidFill>
                  <a:srgbClr val="FFFFFF"/>
                </a:solidFill>
                <a:latin typeface="Arimo"/>
                <a:ea typeface="Arimo"/>
                <a:cs typeface="Arimo"/>
                <a:sym typeface="Arimo"/>
              </a:rPr>
              <a:t>removeFirst() → Mengambil dan menghapus pelanggan paling depan.</a:t>
            </a:r>
          </a:p>
          <a:p>
            <a:pPr algn="l">
              <a:lnSpc>
                <a:spcPts val="2706"/>
              </a:lnSpc>
            </a:pPr>
          </a:p>
          <a:p>
            <a:pPr algn="l">
              <a:lnSpc>
                <a:spcPts val="2706"/>
              </a:lnSpc>
            </a:pPr>
            <a:r>
              <a:rPr lang="en-US" sz="2706" spc="-81">
                <a:solidFill>
                  <a:srgbClr val="FFFFFF"/>
                </a:solidFill>
                <a:latin typeface="Arimo"/>
                <a:ea typeface="Arimo"/>
                <a:cs typeface="Arimo"/>
                <a:sym typeface="Arimo"/>
              </a:rPr>
              <a:t>first() → Menampilkan pelanggan berikutnya tanpa menghapusnya.</a:t>
            </a:r>
          </a:p>
          <a:p>
            <a:pPr algn="l">
              <a:lnSpc>
                <a:spcPts val="2706"/>
              </a:lnSpc>
            </a:pPr>
          </a:p>
          <a:p>
            <a:pPr algn="l">
              <a:lnSpc>
                <a:spcPts val="2706"/>
              </a:lnSpc>
            </a:pPr>
            <a:r>
              <a:rPr lang="en-US" b="true" sz="2706" spc="-81">
                <a:solidFill>
                  <a:srgbClr val="FFFFFF"/>
                </a:solidFill>
                <a:latin typeface="Arimo Bold"/>
                <a:ea typeface="Arimo Bold"/>
                <a:cs typeface="Arimo Bold"/>
                <a:sym typeface="Arimo Bold"/>
              </a:rPr>
              <a:t>C. MENU LIHAT DAFTAR ANTREAN</a:t>
            </a:r>
          </a:p>
          <a:p>
            <a:pPr algn="l">
              <a:lnSpc>
                <a:spcPts val="2706"/>
              </a:lnSpc>
            </a:pPr>
          </a:p>
          <a:p>
            <a:pPr algn="l">
              <a:lnSpc>
                <a:spcPts val="2706"/>
              </a:lnSpc>
            </a:pPr>
            <a:r>
              <a:rPr lang="en-US" sz="2706" spc="-81">
                <a:solidFill>
                  <a:srgbClr val="FFFFFF"/>
                </a:solidFill>
                <a:latin typeface="Arimo"/>
                <a:ea typeface="Arimo"/>
                <a:cs typeface="Arimo"/>
                <a:sym typeface="Arimo"/>
              </a:rPr>
              <a:t>WITHINDEX() → MENAMPILKAN NOMOR URUT DAN NAMA PELANGGAN.</a:t>
            </a:r>
          </a:p>
          <a:p>
            <a:pPr algn="l">
              <a:lnSpc>
                <a:spcPts val="2706"/>
              </a:lnSpc>
            </a:pPr>
          </a:p>
          <a:p>
            <a:pPr algn="l">
              <a:lnSpc>
                <a:spcPts val="2706"/>
              </a:lnSpc>
            </a:pPr>
            <a:r>
              <a:rPr lang="en-US" sz="2706" spc="-81">
                <a:solidFill>
                  <a:srgbClr val="FFFFFF"/>
                </a:solidFill>
                <a:latin typeface="Arimo"/>
                <a:ea typeface="Arimo"/>
                <a:cs typeface="Arimo"/>
                <a:sym typeface="Arimo"/>
              </a:rPr>
              <a:t>PRINTF() → MENAMPILKAN DATA DALAM BENTUK TABEL.</a:t>
            </a:r>
          </a:p>
          <a:p>
            <a:pPr algn="l">
              <a:lnSpc>
                <a:spcPts val="2706"/>
              </a:lnSpc>
            </a:pPr>
          </a:p>
          <a:p>
            <a:pPr algn="l">
              <a:lnSpc>
                <a:spcPts val="2706"/>
              </a:lnSpc>
            </a:pPr>
            <a:r>
              <a:rPr lang="en-US" sz="2706" spc="-81">
                <a:solidFill>
                  <a:srgbClr val="FFFFFF"/>
                </a:solidFill>
                <a:latin typeface="Arimo"/>
                <a:ea typeface="Arimo"/>
                <a:cs typeface="Arimo"/>
                <a:sym typeface="Arimo"/>
              </a:rPr>
              <a:t>SIZE → MENAMPILKAN JUMLAH PELANGGAN DALAM ANTREAN.</a:t>
            </a:r>
          </a:p>
          <a:p>
            <a:pPr algn="l">
              <a:lnSpc>
                <a:spcPts val="2706"/>
              </a:lnSpc>
            </a:pPr>
          </a:p>
          <a:p>
            <a:pPr algn="l">
              <a:lnSpc>
                <a:spcPts val="270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211536" y="241100"/>
            <a:ext cx="9115485" cy="787600"/>
            <a:chOff x="0" y="0"/>
            <a:chExt cx="12153979" cy="1050133"/>
          </a:xfrm>
        </p:grpSpPr>
        <p:sp>
          <p:nvSpPr>
            <p:cNvPr name="Freeform 9" id="9"/>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0" id="10"/>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1" id="11"/>
          <p:cNvSpPr/>
          <p:nvPr/>
        </p:nvSpPr>
        <p:spPr>
          <a:xfrm flipH="false" flipV="false" rot="0">
            <a:off x="1447956" y="2214371"/>
            <a:ext cx="4103133" cy="7359879"/>
          </a:xfrm>
          <a:custGeom>
            <a:avLst/>
            <a:gdLst/>
            <a:ahLst/>
            <a:cxnLst/>
            <a:rect r="r" b="b" t="t" l="l"/>
            <a:pathLst>
              <a:path h="7359879" w="4103133">
                <a:moveTo>
                  <a:pt x="0" y="0"/>
                </a:moveTo>
                <a:lnTo>
                  <a:pt x="4103132" y="0"/>
                </a:lnTo>
                <a:lnTo>
                  <a:pt x="4103132" y="7359880"/>
                </a:lnTo>
                <a:lnTo>
                  <a:pt x="0" y="7359880"/>
                </a:lnTo>
                <a:lnTo>
                  <a:pt x="0" y="0"/>
                </a:lnTo>
                <a:close/>
              </a:path>
            </a:pathLst>
          </a:custGeom>
          <a:blipFill>
            <a:blip r:embed="rId9"/>
            <a:stretch>
              <a:fillRect l="0" t="0" r="0" b="0"/>
            </a:stretch>
          </a:blipFill>
        </p:spPr>
      </p:sp>
      <p:sp>
        <p:nvSpPr>
          <p:cNvPr name="TextBox 12" id="12"/>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IMPLEMENTASI KODE </a:t>
            </a:r>
          </a:p>
        </p:txBody>
      </p:sp>
      <p:sp>
        <p:nvSpPr>
          <p:cNvPr name="TextBox 13" id="13"/>
          <p:cNvSpPr txBox="true"/>
          <p:nvPr/>
        </p:nvSpPr>
        <p:spPr>
          <a:xfrm rot="0">
            <a:off x="6065594" y="2434198"/>
            <a:ext cx="10377917" cy="6898162"/>
          </a:xfrm>
          <a:prstGeom prst="rect">
            <a:avLst/>
          </a:prstGeom>
        </p:spPr>
        <p:txBody>
          <a:bodyPr anchor="t" rtlCol="false" tIns="0" lIns="0" bIns="0" rIns="0">
            <a:spAutoFit/>
          </a:bodyPr>
          <a:lstStyle/>
          <a:p>
            <a:pPr algn="l">
              <a:lnSpc>
                <a:spcPts val="2706"/>
              </a:lnSpc>
            </a:pPr>
            <a:r>
              <a:rPr lang="en-US" b="true" sz="2706" spc="-81">
                <a:solidFill>
                  <a:srgbClr val="FFFFFF"/>
                </a:solidFill>
                <a:latin typeface="Arimo Bold"/>
                <a:ea typeface="Arimo Bold"/>
                <a:cs typeface="Arimo Bold"/>
                <a:sym typeface="Arimo Bold"/>
              </a:rPr>
              <a:t>D. MENU CARI PELANGGAN</a:t>
            </a:r>
          </a:p>
          <a:p>
            <a:pPr algn="l">
              <a:lnSpc>
                <a:spcPts val="2706"/>
              </a:lnSpc>
            </a:pPr>
          </a:p>
          <a:p>
            <a:pPr algn="l">
              <a:lnSpc>
                <a:spcPts val="2706"/>
              </a:lnSpc>
            </a:pPr>
            <a:r>
              <a:rPr lang="en-US" sz="2706" spc="-81">
                <a:solidFill>
                  <a:srgbClr val="FFFFFF"/>
                </a:solidFill>
                <a:latin typeface="Arimo"/>
                <a:ea typeface="Arimo"/>
                <a:cs typeface="Arimo"/>
                <a:sym typeface="Arimo"/>
              </a:rPr>
              <a:t>readLine()?.trim() → Membaca kata kunci pencarian.</a:t>
            </a:r>
          </a:p>
          <a:p>
            <a:pPr algn="l">
              <a:lnSpc>
                <a:spcPts val="2706"/>
              </a:lnSpc>
            </a:pPr>
          </a:p>
          <a:p>
            <a:pPr algn="l">
              <a:lnSpc>
                <a:spcPts val="2706"/>
              </a:lnSpc>
            </a:pPr>
            <a:r>
              <a:rPr lang="en-US" sz="2706" spc="-81">
                <a:solidFill>
                  <a:srgbClr val="FFFFFF"/>
                </a:solidFill>
                <a:latin typeface="Arimo"/>
                <a:ea typeface="Arimo"/>
                <a:cs typeface="Arimo"/>
                <a:sym typeface="Arimo"/>
              </a:rPr>
              <a:t>contains(..., ignoreCase = true) → Mencari nama tanpa membedakan huruf besar/kecil.</a:t>
            </a:r>
          </a:p>
          <a:p>
            <a:pPr algn="l">
              <a:lnSpc>
                <a:spcPts val="2706"/>
              </a:lnSpc>
            </a:pPr>
          </a:p>
          <a:p>
            <a:pPr algn="l">
              <a:lnSpc>
                <a:spcPts val="2706"/>
              </a:lnSpc>
            </a:pPr>
            <a:r>
              <a:rPr lang="en-US" sz="2706" spc="-81">
                <a:solidFill>
                  <a:srgbClr val="FFFFFF"/>
                </a:solidFill>
                <a:latin typeface="Arimo"/>
                <a:ea typeface="Arimo"/>
                <a:cs typeface="Arimo"/>
                <a:sym typeface="Arimo"/>
              </a:rPr>
              <a:t>ditemukan++ → Menghitung jumlah data yang cocok.</a:t>
            </a:r>
          </a:p>
          <a:p>
            <a:pPr algn="l">
              <a:lnSpc>
                <a:spcPts val="2706"/>
              </a:lnSpc>
            </a:pPr>
          </a:p>
          <a:p>
            <a:pPr algn="l">
              <a:lnSpc>
                <a:spcPts val="2706"/>
              </a:lnSpc>
            </a:pPr>
            <a:r>
              <a:rPr lang="en-US" sz="2706" spc="-81">
                <a:solidFill>
                  <a:srgbClr val="FFFFFF"/>
                </a:solidFill>
                <a:latin typeface="Arimo"/>
                <a:ea typeface="Arimo"/>
                <a:cs typeface="Arimo"/>
                <a:sym typeface="Arimo"/>
              </a:rPr>
              <a:t>if (ditemukan &gt; 0) → Menampilkan hasil pencarian atau pesan jika data tidak ditemukan.</a:t>
            </a:r>
          </a:p>
          <a:p>
            <a:pPr algn="l">
              <a:lnSpc>
                <a:spcPts val="2706"/>
              </a:lnSpc>
            </a:pPr>
          </a:p>
          <a:p>
            <a:pPr algn="l">
              <a:lnSpc>
                <a:spcPts val="2706"/>
              </a:lnSpc>
            </a:pPr>
            <a:r>
              <a:rPr lang="en-US" b="true" sz="2706" spc="-81">
                <a:solidFill>
                  <a:srgbClr val="FFFFFF"/>
                </a:solidFill>
                <a:latin typeface="Arimo Bold"/>
                <a:ea typeface="Arimo Bold"/>
                <a:cs typeface="Arimo Bold"/>
                <a:sym typeface="Arimo Bold"/>
              </a:rPr>
              <a:t>E. MENU SELESAI</a:t>
            </a:r>
          </a:p>
          <a:p>
            <a:pPr algn="l">
              <a:lnSpc>
                <a:spcPts val="2706"/>
              </a:lnSpc>
            </a:pPr>
          </a:p>
          <a:p>
            <a:pPr algn="l">
              <a:lnSpc>
                <a:spcPts val="2706"/>
              </a:lnSpc>
            </a:pPr>
            <a:r>
              <a:rPr lang="en-US" sz="2706" spc="-81">
                <a:solidFill>
                  <a:srgbClr val="FFFFFF"/>
                </a:solidFill>
                <a:latin typeface="Arimo"/>
                <a:ea typeface="Arimo"/>
                <a:cs typeface="Arimo"/>
                <a:sym typeface="Arimo"/>
              </a:rPr>
              <a:t>5 -&gt; { } → MENJALANKAN PROSES KELUAR DARI PROGRAM.</a:t>
            </a:r>
          </a:p>
          <a:p>
            <a:pPr algn="l">
              <a:lnSpc>
                <a:spcPts val="2706"/>
              </a:lnSpc>
            </a:pPr>
          </a:p>
          <a:p>
            <a:pPr algn="l">
              <a:lnSpc>
                <a:spcPts val="2706"/>
              </a:lnSpc>
            </a:pPr>
            <a:r>
              <a:rPr lang="en-US" sz="2706" spc="-81">
                <a:solidFill>
                  <a:srgbClr val="FFFFFF"/>
                </a:solidFill>
                <a:latin typeface="Arimo"/>
                <a:ea typeface="Arimo"/>
                <a:cs typeface="Arimo"/>
                <a:sym typeface="Arimo"/>
              </a:rPr>
              <a:t>WHILE (MENU != 5) → PROGRAM TERUS BERULANG HINGGA PENGGUNA MEMILIH MENU 5 (KELUAR).</a:t>
            </a:r>
          </a:p>
          <a:p>
            <a:pPr algn="l">
              <a:lnSpc>
                <a:spcPts val="2706"/>
              </a:lnSpc>
            </a:pPr>
          </a:p>
          <a:p>
            <a:pPr algn="l">
              <a:lnSpc>
                <a:spcPts val="2706"/>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OUTPUT PILIHAN 1</a:t>
            </a:r>
          </a:p>
        </p:txBody>
      </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2" id="12"/>
          <p:cNvSpPr/>
          <p:nvPr/>
        </p:nvSpPr>
        <p:spPr>
          <a:xfrm flipH="false" flipV="false" rot="0">
            <a:off x="2304160" y="2277849"/>
            <a:ext cx="6256977" cy="3214593"/>
          </a:xfrm>
          <a:custGeom>
            <a:avLst/>
            <a:gdLst/>
            <a:ahLst/>
            <a:cxnLst/>
            <a:rect r="r" b="b" t="t" l="l"/>
            <a:pathLst>
              <a:path h="3214593" w="6256977">
                <a:moveTo>
                  <a:pt x="0" y="0"/>
                </a:moveTo>
                <a:lnTo>
                  <a:pt x="6256977" y="0"/>
                </a:lnTo>
                <a:lnTo>
                  <a:pt x="6256977" y="3214593"/>
                </a:lnTo>
                <a:lnTo>
                  <a:pt x="0" y="3214593"/>
                </a:lnTo>
                <a:lnTo>
                  <a:pt x="0" y="0"/>
                </a:lnTo>
                <a:close/>
              </a:path>
            </a:pathLst>
          </a:custGeom>
          <a:blipFill>
            <a:blip r:embed="rId9"/>
            <a:stretch>
              <a:fillRect l="0" t="0" r="0" b="0"/>
            </a:stretch>
          </a:blipFill>
        </p:spPr>
      </p:sp>
      <p:sp>
        <p:nvSpPr>
          <p:cNvPr name="Freeform 13" id="13"/>
          <p:cNvSpPr/>
          <p:nvPr/>
        </p:nvSpPr>
        <p:spPr>
          <a:xfrm flipH="false" flipV="false" rot="0">
            <a:off x="9044010" y="2279128"/>
            <a:ext cx="6363004" cy="3214593"/>
          </a:xfrm>
          <a:custGeom>
            <a:avLst/>
            <a:gdLst/>
            <a:ahLst/>
            <a:cxnLst/>
            <a:rect r="r" b="b" t="t" l="l"/>
            <a:pathLst>
              <a:path h="3214593" w="6363004">
                <a:moveTo>
                  <a:pt x="0" y="0"/>
                </a:moveTo>
                <a:lnTo>
                  <a:pt x="6363004" y="0"/>
                </a:lnTo>
                <a:lnTo>
                  <a:pt x="6363004" y="3214593"/>
                </a:lnTo>
                <a:lnTo>
                  <a:pt x="0" y="3214593"/>
                </a:lnTo>
                <a:lnTo>
                  <a:pt x="0" y="0"/>
                </a:lnTo>
                <a:close/>
              </a:path>
            </a:pathLst>
          </a:custGeom>
          <a:blipFill>
            <a:blip r:embed="rId10"/>
            <a:stretch>
              <a:fillRect l="0" t="0" r="0" b="0"/>
            </a:stretch>
          </a:blipFill>
        </p:spPr>
      </p:sp>
      <p:sp>
        <p:nvSpPr>
          <p:cNvPr name="Freeform 14" id="14"/>
          <p:cNvSpPr/>
          <p:nvPr/>
        </p:nvSpPr>
        <p:spPr>
          <a:xfrm flipH="false" flipV="false" rot="0">
            <a:off x="2304160" y="5825817"/>
            <a:ext cx="6256977" cy="3123881"/>
          </a:xfrm>
          <a:custGeom>
            <a:avLst/>
            <a:gdLst/>
            <a:ahLst/>
            <a:cxnLst/>
            <a:rect r="r" b="b" t="t" l="l"/>
            <a:pathLst>
              <a:path h="3123881" w="6256977">
                <a:moveTo>
                  <a:pt x="0" y="0"/>
                </a:moveTo>
                <a:lnTo>
                  <a:pt x="6256977" y="0"/>
                </a:lnTo>
                <a:lnTo>
                  <a:pt x="6256977" y="3123881"/>
                </a:lnTo>
                <a:lnTo>
                  <a:pt x="0" y="3123881"/>
                </a:lnTo>
                <a:lnTo>
                  <a:pt x="0" y="0"/>
                </a:lnTo>
                <a:close/>
              </a:path>
            </a:pathLst>
          </a:custGeom>
          <a:blipFill>
            <a:blip r:embed="rId11"/>
            <a:stretch>
              <a:fillRect l="0" t="0" r="0" b="0"/>
            </a:stretch>
          </a:blipFill>
        </p:spPr>
      </p:sp>
      <p:sp>
        <p:nvSpPr>
          <p:cNvPr name="Freeform 15" id="15"/>
          <p:cNvSpPr/>
          <p:nvPr/>
        </p:nvSpPr>
        <p:spPr>
          <a:xfrm flipH="false" flipV="false" rot="0">
            <a:off x="9044010" y="5821226"/>
            <a:ext cx="6363004" cy="3121123"/>
          </a:xfrm>
          <a:custGeom>
            <a:avLst/>
            <a:gdLst/>
            <a:ahLst/>
            <a:cxnLst/>
            <a:rect r="r" b="b" t="t" l="l"/>
            <a:pathLst>
              <a:path h="3121123" w="6363004">
                <a:moveTo>
                  <a:pt x="0" y="0"/>
                </a:moveTo>
                <a:lnTo>
                  <a:pt x="6363004" y="0"/>
                </a:lnTo>
                <a:lnTo>
                  <a:pt x="6363004" y="3121123"/>
                </a:lnTo>
                <a:lnTo>
                  <a:pt x="0" y="3121123"/>
                </a:lnTo>
                <a:lnTo>
                  <a:pt x="0" y="0"/>
                </a:lnTo>
                <a:close/>
              </a:path>
            </a:pathLst>
          </a:custGeom>
          <a:blipFill>
            <a:blip r:embed="rId12"/>
            <a:stretch>
              <a:fillRect l="0" t="0" r="0" b="0"/>
            </a:stretch>
          </a:blipFill>
        </p:spPr>
      </p:sp>
      <p:sp>
        <p:nvSpPr>
          <p:cNvPr name="TextBox 16" id="16"/>
          <p:cNvSpPr txBox="true"/>
          <p:nvPr/>
        </p:nvSpPr>
        <p:spPr>
          <a:xfrm rot="0">
            <a:off x="3058101" y="9193203"/>
            <a:ext cx="11006072" cy="1035050"/>
          </a:xfrm>
          <a:prstGeom prst="rect">
            <a:avLst/>
          </a:prstGeom>
        </p:spPr>
        <p:txBody>
          <a:bodyPr anchor="t" rtlCol="false" tIns="0" lIns="0" bIns="0" rIns="0">
            <a:spAutoFit/>
          </a:bodyPr>
          <a:lstStyle/>
          <a:p>
            <a:pPr algn="ctr">
              <a:lnSpc>
                <a:spcPts val="3999"/>
              </a:lnSpc>
            </a:pPr>
            <a:r>
              <a:rPr lang="en-US" b="true" sz="3999" spc="-119">
                <a:solidFill>
                  <a:srgbClr val="FFFFFF"/>
                </a:solidFill>
                <a:latin typeface="Oswald Bold"/>
                <a:ea typeface="Oswald Bold"/>
                <a:cs typeface="Oswald Bold"/>
                <a:sym typeface="Oswald Bold"/>
              </a:rPr>
              <a:t>MENAMPILKAN PROSES PENAMBAHAN PELANGGAN BARU KE DALAM ANTREAN MENGGUNAKAN ENQUEUE.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OUTPUT PILIHAN 2</a:t>
            </a:r>
          </a:p>
        </p:txBody>
      </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2" id="12"/>
          <p:cNvSpPr/>
          <p:nvPr/>
        </p:nvSpPr>
        <p:spPr>
          <a:xfrm flipH="false" flipV="false" rot="0">
            <a:off x="2304160" y="2279128"/>
            <a:ext cx="6254075" cy="3349706"/>
          </a:xfrm>
          <a:custGeom>
            <a:avLst/>
            <a:gdLst/>
            <a:ahLst/>
            <a:cxnLst/>
            <a:rect r="r" b="b" t="t" l="l"/>
            <a:pathLst>
              <a:path h="3349706" w="6254075">
                <a:moveTo>
                  <a:pt x="0" y="0"/>
                </a:moveTo>
                <a:lnTo>
                  <a:pt x="6254075" y="0"/>
                </a:lnTo>
                <a:lnTo>
                  <a:pt x="6254075" y="3349706"/>
                </a:lnTo>
                <a:lnTo>
                  <a:pt x="0" y="3349706"/>
                </a:lnTo>
                <a:lnTo>
                  <a:pt x="0" y="0"/>
                </a:lnTo>
                <a:close/>
              </a:path>
            </a:pathLst>
          </a:custGeom>
          <a:blipFill>
            <a:blip r:embed="rId9"/>
            <a:stretch>
              <a:fillRect l="0" t="0" r="0" b="0"/>
            </a:stretch>
          </a:blipFill>
        </p:spPr>
      </p:sp>
      <p:sp>
        <p:nvSpPr>
          <p:cNvPr name="Freeform 13" id="13"/>
          <p:cNvSpPr/>
          <p:nvPr/>
        </p:nvSpPr>
        <p:spPr>
          <a:xfrm flipH="false" flipV="false" rot="0">
            <a:off x="2304160" y="5841253"/>
            <a:ext cx="6254075" cy="3750570"/>
          </a:xfrm>
          <a:custGeom>
            <a:avLst/>
            <a:gdLst/>
            <a:ahLst/>
            <a:cxnLst/>
            <a:rect r="r" b="b" t="t" l="l"/>
            <a:pathLst>
              <a:path h="3750570" w="6254075">
                <a:moveTo>
                  <a:pt x="0" y="0"/>
                </a:moveTo>
                <a:lnTo>
                  <a:pt x="6254075" y="0"/>
                </a:lnTo>
                <a:lnTo>
                  <a:pt x="6254075" y="3750570"/>
                </a:lnTo>
                <a:lnTo>
                  <a:pt x="0" y="3750570"/>
                </a:lnTo>
                <a:lnTo>
                  <a:pt x="0" y="0"/>
                </a:lnTo>
                <a:close/>
              </a:path>
            </a:pathLst>
          </a:custGeom>
          <a:blipFill>
            <a:blip r:embed="rId10"/>
            <a:stretch>
              <a:fillRect l="0" t="0" r="0" b="0"/>
            </a:stretch>
          </a:blipFill>
        </p:spPr>
      </p:sp>
      <p:sp>
        <p:nvSpPr>
          <p:cNvPr name="Freeform 14" id="14"/>
          <p:cNvSpPr/>
          <p:nvPr/>
        </p:nvSpPr>
        <p:spPr>
          <a:xfrm flipH="false" flipV="false" rot="0">
            <a:off x="9050183" y="2330723"/>
            <a:ext cx="5611263" cy="3246516"/>
          </a:xfrm>
          <a:custGeom>
            <a:avLst/>
            <a:gdLst/>
            <a:ahLst/>
            <a:cxnLst/>
            <a:rect r="r" b="b" t="t" l="l"/>
            <a:pathLst>
              <a:path h="3246516" w="5611263">
                <a:moveTo>
                  <a:pt x="0" y="0"/>
                </a:moveTo>
                <a:lnTo>
                  <a:pt x="5611263" y="0"/>
                </a:lnTo>
                <a:lnTo>
                  <a:pt x="5611263" y="3246516"/>
                </a:lnTo>
                <a:lnTo>
                  <a:pt x="0" y="3246516"/>
                </a:lnTo>
                <a:lnTo>
                  <a:pt x="0" y="0"/>
                </a:lnTo>
                <a:close/>
              </a:path>
            </a:pathLst>
          </a:custGeom>
          <a:blipFill>
            <a:blip r:embed="rId11"/>
            <a:stretch>
              <a:fillRect l="0" t="0" r="0" b="0"/>
            </a:stretch>
          </a:blipFill>
        </p:spPr>
      </p:sp>
      <p:sp>
        <p:nvSpPr>
          <p:cNvPr name="Freeform 15" id="15"/>
          <p:cNvSpPr/>
          <p:nvPr/>
        </p:nvSpPr>
        <p:spPr>
          <a:xfrm flipH="false" flipV="false" rot="0">
            <a:off x="9050183" y="5915724"/>
            <a:ext cx="6460201" cy="3601628"/>
          </a:xfrm>
          <a:custGeom>
            <a:avLst/>
            <a:gdLst/>
            <a:ahLst/>
            <a:cxnLst/>
            <a:rect r="r" b="b" t="t" l="l"/>
            <a:pathLst>
              <a:path h="3601628" w="6460201">
                <a:moveTo>
                  <a:pt x="0" y="0"/>
                </a:moveTo>
                <a:lnTo>
                  <a:pt x="6460201" y="0"/>
                </a:lnTo>
                <a:lnTo>
                  <a:pt x="6460201" y="3601628"/>
                </a:lnTo>
                <a:lnTo>
                  <a:pt x="0" y="3601628"/>
                </a:lnTo>
                <a:lnTo>
                  <a:pt x="0" y="0"/>
                </a:lnTo>
                <a:close/>
              </a:path>
            </a:pathLst>
          </a:custGeom>
          <a:blipFill>
            <a:blip r:embed="rId12"/>
            <a:stretch>
              <a:fillRect l="0" t="0" r="0" b="0"/>
            </a:stretch>
          </a:blipFill>
        </p:spPr>
      </p:sp>
      <p:sp>
        <p:nvSpPr>
          <p:cNvPr name="TextBox 16" id="16"/>
          <p:cNvSpPr txBox="true"/>
          <p:nvPr/>
        </p:nvSpPr>
        <p:spPr>
          <a:xfrm rot="0">
            <a:off x="3294430" y="9696598"/>
            <a:ext cx="11006072" cy="424180"/>
          </a:xfrm>
          <a:prstGeom prst="rect">
            <a:avLst/>
          </a:prstGeom>
        </p:spPr>
        <p:txBody>
          <a:bodyPr anchor="t" rtlCol="false" tIns="0" lIns="0" bIns="0" rIns="0">
            <a:spAutoFit/>
          </a:bodyPr>
          <a:lstStyle/>
          <a:p>
            <a:pPr algn="ctr">
              <a:lnSpc>
                <a:spcPts val="3200"/>
              </a:lnSpc>
            </a:pPr>
            <a:r>
              <a:rPr lang="en-US" b="true" sz="3200" spc="-96">
                <a:solidFill>
                  <a:srgbClr val="FFFFFF"/>
                </a:solidFill>
                <a:latin typeface="Oswald Bold"/>
                <a:ea typeface="Oswald Bold"/>
                <a:cs typeface="Oswald Bold"/>
                <a:sym typeface="Oswald Bold"/>
              </a:rPr>
              <a:t>MENAMPILKAN PROSES PELAYANAN PELANGGAN SESUAI URUTAN FIFO.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OUTPUT PILIHAN 3</a:t>
            </a:r>
          </a:p>
        </p:txBody>
      </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2" id="12"/>
          <p:cNvSpPr/>
          <p:nvPr/>
        </p:nvSpPr>
        <p:spPr>
          <a:xfrm flipH="false" flipV="false" rot="0">
            <a:off x="10776477" y="2845728"/>
            <a:ext cx="5798117" cy="4595544"/>
          </a:xfrm>
          <a:custGeom>
            <a:avLst/>
            <a:gdLst/>
            <a:ahLst/>
            <a:cxnLst/>
            <a:rect r="r" b="b" t="t" l="l"/>
            <a:pathLst>
              <a:path h="4595544" w="5798117">
                <a:moveTo>
                  <a:pt x="0" y="0"/>
                </a:moveTo>
                <a:lnTo>
                  <a:pt x="5798117" y="0"/>
                </a:lnTo>
                <a:lnTo>
                  <a:pt x="5798117" y="4595544"/>
                </a:lnTo>
                <a:lnTo>
                  <a:pt x="0" y="4595544"/>
                </a:lnTo>
                <a:lnTo>
                  <a:pt x="0" y="0"/>
                </a:lnTo>
                <a:close/>
              </a:path>
            </a:pathLst>
          </a:custGeom>
          <a:blipFill>
            <a:blip r:embed="rId9"/>
            <a:stretch>
              <a:fillRect l="0" t="0" r="0" b="0"/>
            </a:stretch>
          </a:blipFill>
        </p:spPr>
      </p:sp>
      <p:sp>
        <p:nvSpPr>
          <p:cNvPr name="Freeform 13" id="13"/>
          <p:cNvSpPr/>
          <p:nvPr/>
        </p:nvSpPr>
        <p:spPr>
          <a:xfrm flipH="false" flipV="false" rot="0">
            <a:off x="1730377" y="3009522"/>
            <a:ext cx="8670434" cy="4267957"/>
          </a:xfrm>
          <a:custGeom>
            <a:avLst/>
            <a:gdLst/>
            <a:ahLst/>
            <a:cxnLst/>
            <a:rect r="r" b="b" t="t" l="l"/>
            <a:pathLst>
              <a:path h="4267957" w="8670434">
                <a:moveTo>
                  <a:pt x="0" y="0"/>
                </a:moveTo>
                <a:lnTo>
                  <a:pt x="8670434" y="0"/>
                </a:lnTo>
                <a:lnTo>
                  <a:pt x="8670434" y="4267956"/>
                </a:lnTo>
                <a:lnTo>
                  <a:pt x="0" y="4267956"/>
                </a:lnTo>
                <a:lnTo>
                  <a:pt x="0" y="0"/>
                </a:lnTo>
                <a:close/>
              </a:path>
            </a:pathLst>
          </a:custGeom>
          <a:blipFill>
            <a:blip r:embed="rId10"/>
            <a:stretch>
              <a:fillRect l="0" t="0" r="0" b="0"/>
            </a:stretch>
          </a:blipFill>
        </p:spPr>
      </p:sp>
      <p:sp>
        <p:nvSpPr>
          <p:cNvPr name="TextBox 14" id="14"/>
          <p:cNvSpPr txBox="true"/>
          <p:nvPr/>
        </p:nvSpPr>
        <p:spPr>
          <a:xfrm rot="0">
            <a:off x="3823984" y="8584272"/>
            <a:ext cx="11006072" cy="1035050"/>
          </a:xfrm>
          <a:prstGeom prst="rect">
            <a:avLst/>
          </a:prstGeom>
        </p:spPr>
        <p:txBody>
          <a:bodyPr anchor="t" rtlCol="false" tIns="0" lIns="0" bIns="0" rIns="0">
            <a:spAutoFit/>
          </a:bodyPr>
          <a:lstStyle/>
          <a:p>
            <a:pPr algn="ctr">
              <a:lnSpc>
                <a:spcPts val="3999"/>
              </a:lnSpc>
            </a:pPr>
            <a:r>
              <a:rPr lang="en-US" b="true" sz="3999" spc="-119">
                <a:solidFill>
                  <a:srgbClr val="FFFFFF"/>
                </a:solidFill>
                <a:latin typeface="Oswald Bold"/>
                <a:ea typeface="Oswald Bold"/>
                <a:cs typeface="Oswald Bold"/>
                <a:sym typeface="Oswald Bold"/>
              </a:rPr>
              <a:t>MENAMPILKAN SELURUH DAFTAR PELANGGAN BESERTA JUMLAH ANTREAN.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OUTPUT PILIHAN 4</a:t>
            </a:r>
          </a:p>
        </p:txBody>
      </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2" id="12"/>
          <p:cNvSpPr/>
          <p:nvPr/>
        </p:nvSpPr>
        <p:spPr>
          <a:xfrm flipH="false" flipV="false" rot="0">
            <a:off x="1503667" y="2959508"/>
            <a:ext cx="8614664" cy="4590104"/>
          </a:xfrm>
          <a:custGeom>
            <a:avLst/>
            <a:gdLst/>
            <a:ahLst/>
            <a:cxnLst/>
            <a:rect r="r" b="b" t="t" l="l"/>
            <a:pathLst>
              <a:path h="4590104" w="8614664">
                <a:moveTo>
                  <a:pt x="0" y="0"/>
                </a:moveTo>
                <a:lnTo>
                  <a:pt x="8614664" y="0"/>
                </a:lnTo>
                <a:lnTo>
                  <a:pt x="8614664" y="4590103"/>
                </a:lnTo>
                <a:lnTo>
                  <a:pt x="0" y="4590103"/>
                </a:lnTo>
                <a:lnTo>
                  <a:pt x="0" y="0"/>
                </a:lnTo>
                <a:close/>
              </a:path>
            </a:pathLst>
          </a:custGeom>
          <a:blipFill>
            <a:blip r:embed="rId9"/>
            <a:stretch>
              <a:fillRect l="0" t="0" r="0" b="0"/>
            </a:stretch>
          </a:blipFill>
        </p:spPr>
      </p:sp>
      <p:sp>
        <p:nvSpPr>
          <p:cNvPr name="Freeform 13" id="13"/>
          <p:cNvSpPr/>
          <p:nvPr/>
        </p:nvSpPr>
        <p:spPr>
          <a:xfrm flipH="false" flipV="false" rot="0">
            <a:off x="10559159" y="2959508"/>
            <a:ext cx="6391827" cy="4590104"/>
          </a:xfrm>
          <a:custGeom>
            <a:avLst/>
            <a:gdLst/>
            <a:ahLst/>
            <a:cxnLst/>
            <a:rect r="r" b="b" t="t" l="l"/>
            <a:pathLst>
              <a:path h="4590104" w="6391827">
                <a:moveTo>
                  <a:pt x="0" y="0"/>
                </a:moveTo>
                <a:lnTo>
                  <a:pt x="6391827" y="0"/>
                </a:lnTo>
                <a:lnTo>
                  <a:pt x="6391827" y="4590103"/>
                </a:lnTo>
                <a:lnTo>
                  <a:pt x="0" y="4590103"/>
                </a:lnTo>
                <a:lnTo>
                  <a:pt x="0" y="0"/>
                </a:lnTo>
                <a:close/>
              </a:path>
            </a:pathLst>
          </a:custGeom>
          <a:blipFill>
            <a:blip r:embed="rId10"/>
            <a:stretch>
              <a:fillRect l="0" t="0" r="0" b="0"/>
            </a:stretch>
          </a:blipFill>
        </p:spPr>
      </p:sp>
      <p:sp>
        <p:nvSpPr>
          <p:cNvPr name="TextBox 14" id="14"/>
          <p:cNvSpPr txBox="true"/>
          <p:nvPr/>
        </p:nvSpPr>
        <p:spPr>
          <a:xfrm rot="0">
            <a:off x="3976384" y="8736672"/>
            <a:ext cx="11006072" cy="1035050"/>
          </a:xfrm>
          <a:prstGeom prst="rect">
            <a:avLst/>
          </a:prstGeom>
        </p:spPr>
        <p:txBody>
          <a:bodyPr anchor="t" rtlCol="false" tIns="0" lIns="0" bIns="0" rIns="0">
            <a:spAutoFit/>
          </a:bodyPr>
          <a:lstStyle/>
          <a:p>
            <a:pPr algn="ctr">
              <a:lnSpc>
                <a:spcPts val="3999"/>
              </a:lnSpc>
            </a:pPr>
            <a:r>
              <a:rPr lang="en-US" b="true" sz="3999" spc="-119">
                <a:solidFill>
                  <a:srgbClr val="FFFFFF"/>
                </a:solidFill>
                <a:latin typeface="Oswald Bold"/>
                <a:ea typeface="Oswald Bold"/>
                <a:cs typeface="Oswald Bold"/>
                <a:sym typeface="Oswald Bold"/>
              </a:rPr>
              <a:t>MENAMPILKAN HASIL PENCARIAN PELANGGAN MENGGUNAKAN SEQUENTIAL SEARCH.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47147" y="1143000"/>
            <a:ext cx="11006072" cy="800195"/>
          </a:xfrm>
          <a:prstGeom prst="rect">
            <a:avLst/>
          </a:prstGeom>
        </p:spPr>
        <p:txBody>
          <a:bodyPr anchor="t" rtlCol="false" tIns="0" lIns="0" bIns="0" rIns="0">
            <a:spAutoFit/>
          </a:bodyPr>
          <a:lstStyle/>
          <a:p>
            <a:pPr algn="ctr">
              <a:lnSpc>
                <a:spcPts val="6003"/>
              </a:lnSpc>
            </a:pPr>
            <a:r>
              <a:rPr lang="en-US" b="true" sz="6003" spc="-180">
                <a:solidFill>
                  <a:srgbClr val="FFFFFF"/>
                </a:solidFill>
                <a:latin typeface="Oswald Bold"/>
                <a:ea typeface="Oswald Bold"/>
                <a:cs typeface="Oswald Bold"/>
                <a:sym typeface="Oswald Bold"/>
              </a:rPr>
              <a:t>OUTPUT PILIHAN 5</a:t>
            </a:r>
          </a:p>
        </p:txBody>
      </p:sp>
      <p:sp>
        <p:nvSpPr>
          <p:cNvPr name="Freeform 6" id="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909725" y="8639177"/>
            <a:ext cx="4378275" cy="3295647"/>
          </a:xfrm>
          <a:custGeom>
            <a:avLst/>
            <a:gdLst/>
            <a:ahLst/>
            <a:cxnLst/>
            <a:rect r="r" b="b" t="t" l="l"/>
            <a:pathLst>
              <a:path h="3295647" w="4378275">
                <a:moveTo>
                  <a:pt x="0" y="3295646"/>
                </a:moveTo>
                <a:lnTo>
                  <a:pt x="4378275" y="3295646"/>
                </a:lnTo>
                <a:lnTo>
                  <a:pt x="4378275" y="0"/>
                </a:lnTo>
                <a:lnTo>
                  <a:pt x="0" y="0"/>
                </a:lnTo>
                <a:lnTo>
                  <a:pt x="0" y="32956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11536" y="241100"/>
            <a:ext cx="9115485" cy="787600"/>
            <a:chOff x="0" y="0"/>
            <a:chExt cx="12153979" cy="1050133"/>
          </a:xfrm>
        </p:grpSpPr>
        <p:sp>
          <p:nvSpPr>
            <p:cNvPr name="Freeform 10" id="1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11" id="1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
        <p:nvSpPr>
          <p:cNvPr name="Freeform 12" id="12"/>
          <p:cNvSpPr/>
          <p:nvPr/>
        </p:nvSpPr>
        <p:spPr>
          <a:xfrm flipH="false" flipV="false" rot="0">
            <a:off x="5215564" y="2279128"/>
            <a:ext cx="8222912" cy="7065981"/>
          </a:xfrm>
          <a:custGeom>
            <a:avLst/>
            <a:gdLst/>
            <a:ahLst/>
            <a:cxnLst/>
            <a:rect r="r" b="b" t="t" l="l"/>
            <a:pathLst>
              <a:path h="7065981" w="8222912">
                <a:moveTo>
                  <a:pt x="0" y="0"/>
                </a:moveTo>
                <a:lnTo>
                  <a:pt x="8222912" y="0"/>
                </a:lnTo>
                <a:lnTo>
                  <a:pt x="8222912" y="7065981"/>
                </a:lnTo>
                <a:lnTo>
                  <a:pt x="0" y="7065981"/>
                </a:lnTo>
                <a:lnTo>
                  <a:pt x="0" y="0"/>
                </a:lnTo>
                <a:close/>
              </a:path>
            </a:pathLst>
          </a:custGeom>
          <a:blipFill>
            <a:blip r:embed="rId9"/>
            <a:stretch>
              <a:fillRect l="0" t="0" r="0" b="0"/>
            </a:stretch>
          </a:blipFill>
        </p:spPr>
      </p:sp>
      <p:sp>
        <p:nvSpPr>
          <p:cNvPr name="TextBox 13" id="13"/>
          <p:cNvSpPr txBox="true"/>
          <p:nvPr/>
        </p:nvSpPr>
        <p:spPr>
          <a:xfrm rot="0">
            <a:off x="3974923" y="9545134"/>
            <a:ext cx="11006072" cy="530225"/>
          </a:xfrm>
          <a:prstGeom prst="rect">
            <a:avLst/>
          </a:prstGeom>
        </p:spPr>
        <p:txBody>
          <a:bodyPr anchor="t" rtlCol="false" tIns="0" lIns="0" bIns="0" rIns="0">
            <a:spAutoFit/>
          </a:bodyPr>
          <a:lstStyle/>
          <a:p>
            <a:pPr algn="ctr">
              <a:lnSpc>
                <a:spcPts val="3999"/>
              </a:lnSpc>
            </a:pPr>
            <a:r>
              <a:rPr lang="en-US" b="true" sz="3999" spc="-119">
                <a:solidFill>
                  <a:srgbClr val="FFFFFF"/>
                </a:solidFill>
                <a:latin typeface="Oswald Bold"/>
                <a:ea typeface="Oswald Bold"/>
                <a:cs typeface="Oswald Bold"/>
                <a:sym typeface="Oswald Bold"/>
              </a:rPr>
              <a:t>MENAMPILKAN PROSES PENGHENTIAN PROGRAM.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144500" y="0"/>
            <a:ext cx="10287000" cy="102870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4588515"/>
            <a:ext cx="16230600" cy="1493757"/>
            <a:chOff x="0" y="0"/>
            <a:chExt cx="812800" cy="74805"/>
          </a:xfrm>
        </p:grpSpPr>
        <p:sp>
          <p:nvSpPr>
            <p:cNvPr name="Freeform 6" id="6"/>
            <p:cNvSpPr/>
            <p:nvPr/>
          </p:nvSpPr>
          <p:spPr>
            <a:xfrm flipH="false" flipV="false" rot="0">
              <a:off x="0" y="0"/>
              <a:ext cx="812800" cy="74805"/>
            </a:xfrm>
            <a:custGeom>
              <a:avLst/>
              <a:gdLst/>
              <a:ahLst/>
              <a:cxnLst/>
              <a:rect r="r" b="b" t="t" l="l"/>
              <a:pathLst>
                <a:path h="74805" w="812800">
                  <a:moveTo>
                    <a:pt x="10494" y="0"/>
                  </a:moveTo>
                  <a:lnTo>
                    <a:pt x="802306" y="0"/>
                  </a:lnTo>
                  <a:cubicBezTo>
                    <a:pt x="808102" y="0"/>
                    <a:pt x="812800" y="4698"/>
                    <a:pt x="812800" y="10494"/>
                  </a:cubicBezTo>
                  <a:lnTo>
                    <a:pt x="812800" y="64311"/>
                  </a:lnTo>
                  <a:cubicBezTo>
                    <a:pt x="812800" y="67094"/>
                    <a:pt x="811694" y="69763"/>
                    <a:pt x="809726" y="71731"/>
                  </a:cubicBezTo>
                  <a:cubicBezTo>
                    <a:pt x="807758" y="73699"/>
                    <a:pt x="805089" y="74805"/>
                    <a:pt x="802306" y="74805"/>
                  </a:cubicBezTo>
                  <a:lnTo>
                    <a:pt x="10494" y="74805"/>
                  </a:lnTo>
                  <a:cubicBezTo>
                    <a:pt x="4698" y="74805"/>
                    <a:pt x="0" y="70106"/>
                    <a:pt x="0" y="64311"/>
                  </a:cubicBezTo>
                  <a:lnTo>
                    <a:pt x="0" y="10494"/>
                  </a:lnTo>
                  <a:cubicBezTo>
                    <a:pt x="0" y="4698"/>
                    <a:pt x="4698" y="0"/>
                    <a:pt x="10494" y="0"/>
                  </a:cubicBezTo>
                  <a:close/>
                </a:path>
              </a:pathLst>
            </a:custGeom>
            <a:ln w="38100" cap="rnd">
              <a:gradFill>
                <a:gsLst>
                  <a:gs pos="0">
                    <a:srgbClr val="82FBFF">
                      <a:alpha val="100000"/>
                    </a:srgbClr>
                  </a:gs>
                  <a:gs pos="100000">
                    <a:srgbClr val="D1FEFF">
                      <a:alpha val="100000"/>
                    </a:srgbClr>
                  </a:gs>
                </a:gsLst>
                <a:lin ang="0"/>
              </a:gradFill>
              <a:prstDash val="solid"/>
              <a:round/>
            </a:ln>
          </p:spPr>
        </p:sp>
        <p:sp>
          <p:nvSpPr>
            <p:cNvPr name="TextBox 7" id="7"/>
            <p:cNvSpPr txBox="true"/>
            <p:nvPr/>
          </p:nvSpPr>
          <p:spPr>
            <a:xfrm>
              <a:off x="0" y="-38100"/>
              <a:ext cx="812800" cy="11290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6738994"/>
            <a:ext cx="16230600" cy="1493757"/>
            <a:chOff x="0" y="0"/>
            <a:chExt cx="812800" cy="74805"/>
          </a:xfrm>
        </p:grpSpPr>
        <p:sp>
          <p:nvSpPr>
            <p:cNvPr name="Freeform 9" id="9"/>
            <p:cNvSpPr/>
            <p:nvPr/>
          </p:nvSpPr>
          <p:spPr>
            <a:xfrm flipH="false" flipV="false" rot="0">
              <a:off x="0" y="0"/>
              <a:ext cx="812800" cy="74805"/>
            </a:xfrm>
            <a:custGeom>
              <a:avLst/>
              <a:gdLst/>
              <a:ahLst/>
              <a:cxnLst/>
              <a:rect r="r" b="b" t="t" l="l"/>
              <a:pathLst>
                <a:path h="74805" w="812800">
                  <a:moveTo>
                    <a:pt x="10494" y="0"/>
                  </a:moveTo>
                  <a:lnTo>
                    <a:pt x="802306" y="0"/>
                  </a:lnTo>
                  <a:cubicBezTo>
                    <a:pt x="808102" y="0"/>
                    <a:pt x="812800" y="4698"/>
                    <a:pt x="812800" y="10494"/>
                  </a:cubicBezTo>
                  <a:lnTo>
                    <a:pt x="812800" y="64311"/>
                  </a:lnTo>
                  <a:cubicBezTo>
                    <a:pt x="812800" y="67094"/>
                    <a:pt x="811694" y="69763"/>
                    <a:pt x="809726" y="71731"/>
                  </a:cubicBezTo>
                  <a:cubicBezTo>
                    <a:pt x="807758" y="73699"/>
                    <a:pt x="805089" y="74805"/>
                    <a:pt x="802306" y="74805"/>
                  </a:cubicBezTo>
                  <a:lnTo>
                    <a:pt x="10494" y="74805"/>
                  </a:lnTo>
                  <a:cubicBezTo>
                    <a:pt x="4698" y="74805"/>
                    <a:pt x="0" y="70106"/>
                    <a:pt x="0" y="64311"/>
                  </a:cubicBezTo>
                  <a:lnTo>
                    <a:pt x="0" y="10494"/>
                  </a:lnTo>
                  <a:cubicBezTo>
                    <a:pt x="0" y="4698"/>
                    <a:pt x="4698" y="0"/>
                    <a:pt x="10494" y="0"/>
                  </a:cubicBezTo>
                  <a:close/>
                </a:path>
              </a:pathLst>
            </a:custGeom>
            <a:ln w="38100" cap="rnd">
              <a:gradFill>
                <a:gsLst>
                  <a:gs pos="0">
                    <a:srgbClr val="82FBFF">
                      <a:alpha val="100000"/>
                    </a:srgbClr>
                  </a:gs>
                  <a:gs pos="100000">
                    <a:srgbClr val="D1FEFF">
                      <a:alpha val="100000"/>
                    </a:srgbClr>
                  </a:gs>
                </a:gsLst>
                <a:lin ang="0"/>
              </a:gradFill>
              <a:prstDash val="solid"/>
              <a:round/>
            </a:ln>
          </p:spPr>
        </p:sp>
        <p:sp>
          <p:nvSpPr>
            <p:cNvPr name="TextBox 10" id="10"/>
            <p:cNvSpPr txBox="true"/>
            <p:nvPr/>
          </p:nvSpPr>
          <p:spPr>
            <a:xfrm>
              <a:off x="0" y="-38100"/>
              <a:ext cx="812800" cy="112905"/>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28700" y="4246117"/>
            <a:ext cx="6114537" cy="684795"/>
            <a:chOff x="0" y="0"/>
            <a:chExt cx="2190494" cy="245324"/>
          </a:xfrm>
        </p:grpSpPr>
        <p:sp>
          <p:nvSpPr>
            <p:cNvPr name="Freeform 12" id="12"/>
            <p:cNvSpPr/>
            <p:nvPr/>
          </p:nvSpPr>
          <p:spPr>
            <a:xfrm flipH="false" flipV="false" rot="0">
              <a:off x="0" y="0"/>
              <a:ext cx="2190494" cy="245324"/>
            </a:xfrm>
            <a:custGeom>
              <a:avLst/>
              <a:gdLst/>
              <a:ahLst/>
              <a:cxnLst/>
              <a:rect r="r" b="b" t="t" l="l"/>
              <a:pathLst>
                <a:path h="245324" w="2190494">
                  <a:moveTo>
                    <a:pt x="27855" y="0"/>
                  </a:moveTo>
                  <a:lnTo>
                    <a:pt x="2162639" y="0"/>
                  </a:lnTo>
                  <a:cubicBezTo>
                    <a:pt x="2170026" y="0"/>
                    <a:pt x="2177111" y="2935"/>
                    <a:pt x="2182335" y="8159"/>
                  </a:cubicBezTo>
                  <a:cubicBezTo>
                    <a:pt x="2187559" y="13383"/>
                    <a:pt x="2190494" y="20468"/>
                    <a:pt x="2190494" y="27855"/>
                  </a:cubicBezTo>
                  <a:lnTo>
                    <a:pt x="2190494" y="217468"/>
                  </a:lnTo>
                  <a:cubicBezTo>
                    <a:pt x="2190494" y="224856"/>
                    <a:pt x="2187559" y="231941"/>
                    <a:pt x="2182335" y="237165"/>
                  </a:cubicBezTo>
                  <a:cubicBezTo>
                    <a:pt x="2177111" y="242389"/>
                    <a:pt x="2170026" y="245324"/>
                    <a:pt x="2162639" y="245324"/>
                  </a:cubicBezTo>
                  <a:lnTo>
                    <a:pt x="27855" y="245324"/>
                  </a:lnTo>
                  <a:cubicBezTo>
                    <a:pt x="20468" y="245324"/>
                    <a:pt x="13383" y="242389"/>
                    <a:pt x="8159" y="237165"/>
                  </a:cubicBezTo>
                  <a:cubicBezTo>
                    <a:pt x="2935" y="231941"/>
                    <a:pt x="0" y="224856"/>
                    <a:pt x="0" y="217468"/>
                  </a:cubicBezTo>
                  <a:lnTo>
                    <a:pt x="0" y="27855"/>
                  </a:lnTo>
                  <a:cubicBezTo>
                    <a:pt x="0" y="20468"/>
                    <a:pt x="2935" y="13383"/>
                    <a:pt x="8159" y="8159"/>
                  </a:cubicBezTo>
                  <a:cubicBezTo>
                    <a:pt x="13383" y="2935"/>
                    <a:pt x="20468" y="0"/>
                    <a:pt x="27855" y="0"/>
                  </a:cubicBezTo>
                  <a:close/>
                </a:path>
              </a:pathLst>
            </a:custGeom>
            <a:solidFill>
              <a:srgbClr val="FFFFFF"/>
            </a:solidFill>
            <a:ln cap="rnd">
              <a:noFill/>
              <a:prstDash val="solid"/>
              <a:round/>
            </a:ln>
          </p:spPr>
        </p:sp>
        <p:sp>
          <p:nvSpPr>
            <p:cNvPr name="TextBox 13" id="13"/>
            <p:cNvSpPr txBox="true"/>
            <p:nvPr/>
          </p:nvSpPr>
          <p:spPr>
            <a:xfrm>
              <a:off x="0" y="-38100"/>
              <a:ext cx="2190494" cy="283424"/>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028700" y="6396597"/>
            <a:ext cx="6114537" cy="684795"/>
            <a:chOff x="0" y="0"/>
            <a:chExt cx="2190494" cy="245324"/>
          </a:xfrm>
        </p:grpSpPr>
        <p:sp>
          <p:nvSpPr>
            <p:cNvPr name="Freeform 15" id="15"/>
            <p:cNvSpPr/>
            <p:nvPr/>
          </p:nvSpPr>
          <p:spPr>
            <a:xfrm flipH="false" flipV="false" rot="0">
              <a:off x="0" y="0"/>
              <a:ext cx="2190494" cy="245324"/>
            </a:xfrm>
            <a:custGeom>
              <a:avLst/>
              <a:gdLst/>
              <a:ahLst/>
              <a:cxnLst/>
              <a:rect r="r" b="b" t="t" l="l"/>
              <a:pathLst>
                <a:path h="245324" w="2190494">
                  <a:moveTo>
                    <a:pt x="27855" y="0"/>
                  </a:moveTo>
                  <a:lnTo>
                    <a:pt x="2162639" y="0"/>
                  </a:lnTo>
                  <a:cubicBezTo>
                    <a:pt x="2170026" y="0"/>
                    <a:pt x="2177111" y="2935"/>
                    <a:pt x="2182335" y="8159"/>
                  </a:cubicBezTo>
                  <a:cubicBezTo>
                    <a:pt x="2187559" y="13383"/>
                    <a:pt x="2190494" y="20468"/>
                    <a:pt x="2190494" y="27855"/>
                  </a:cubicBezTo>
                  <a:lnTo>
                    <a:pt x="2190494" y="217468"/>
                  </a:lnTo>
                  <a:cubicBezTo>
                    <a:pt x="2190494" y="224856"/>
                    <a:pt x="2187559" y="231941"/>
                    <a:pt x="2182335" y="237165"/>
                  </a:cubicBezTo>
                  <a:cubicBezTo>
                    <a:pt x="2177111" y="242389"/>
                    <a:pt x="2170026" y="245324"/>
                    <a:pt x="2162639" y="245324"/>
                  </a:cubicBezTo>
                  <a:lnTo>
                    <a:pt x="27855" y="245324"/>
                  </a:lnTo>
                  <a:cubicBezTo>
                    <a:pt x="20468" y="245324"/>
                    <a:pt x="13383" y="242389"/>
                    <a:pt x="8159" y="237165"/>
                  </a:cubicBezTo>
                  <a:cubicBezTo>
                    <a:pt x="2935" y="231941"/>
                    <a:pt x="0" y="224856"/>
                    <a:pt x="0" y="217468"/>
                  </a:cubicBezTo>
                  <a:lnTo>
                    <a:pt x="0" y="27855"/>
                  </a:lnTo>
                  <a:cubicBezTo>
                    <a:pt x="0" y="20468"/>
                    <a:pt x="2935" y="13383"/>
                    <a:pt x="8159" y="8159"/>
                  </a:cubicBezTo>
                  <a:cubicBezTo>
                    <a:pt x="13383" y="2935"/>
                    <a:pt x="20468" y="0"/>
                    <a:pt x="27855" y="0"/>
                  </a:cubicBezTo>
                  <a:close/>
                </a:path>
              </a:pathLst>
            </a:custGeom>
            <a:solidFill>
              <a:srgbClr val="FFFFFF"/>
            </a:solidFill>
            <a:ln cap="rnd">
              <a:noFill/>
              <a:prstDash val="solid"/>
              <a:round/>
            </a:ln>
          </p:spPr>
        </p:sp>
        <p:sp>
          <p:nvSpPr>
            <p:cNvPr name="TextBox 16" id="16"/>
            <p:cNvSpPr txBox="true"/>
            <p:nvPr/>
          </p:nvSpPr>
          <p:spPr>
            <a:xfrm>
              <a:off x="0" y="-38100"/>
              <a:ext cx="2190494" cy="283424"/>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028700" y="4409744"/>
            <a:ext cx="6114537" cy="385445"/>
          </a:xfrm>
          <a:prstGeom prst="rect">
            <a:avLst/>
          </a:prstGeom>
        </p:spPr>
        <p:txBody>
          <a:bodyPr anchor="t" rtlCol="false" tIns="0" lIns="0" bIns="0" rIns="0">
            <a:spAutoFit/>
          </a:bodyPr>
          <a:lstStyle/>
          <a:p>
            <a:pPr algn="ctr">
              <a:lnSpc>
                <a:spcPts val="2860"/>
              </a:lnSpc>
            </a:pPr>
            <a:r>
              <a:rPr lang="en-US" b="true" sz="2600" spc="-78">
                <a:gradFill>
                  <a:gsLst>
                    <a:gs pos="0">
                      <a:srgbClr val="000000">
                        <a:alpha val="100000"/>
                      </a:srgbClr>
                    </a:gs>
                    <a:gs pos="100000">
                      <a:srgbClr val="3B3B3B">
                        <a:alpha val="100000"/>
                      </a:srgbClr>
                    </a:gs>
                  </a:gsLst>
                  <a:path path="circle">
                    <a:fillToRect l="0" r="100000" t="0" b="100000"/>
                  </a:path>
                  <a:tileRect r="0" l="-100000" b="0" t="-100000"/>
                </a:gradFill>
                <a:latin typeface="Arimo Bold"/>
                <a:ea typeface="Arimo Bold"/>
                <a:cs typeface="Arimo Bold"/>
                <a:sym typeface="Arimo Bold"/>
              </a:rPr>
              <a:t>PENERAPAN QUEUE DAN FIFO</a:t>
            </a:r>
          </a:p>
        </p:txBody>
      </p:sp>
      <p:sp>
        <p:nvSpPr>
          <p:cNvPr name="TextBox 18" id="18"/>
          <p:cNvSpPr txBox="true"/>
          <p:nvPr/>
        </p:nvSpPr>
        <p:spPr>
          <a:xfrm rot="0">
            <a:off x="1028700" y="6560223"/>
            <a:ext cx="6114537" cy="385445"/>
          </a:xfrm>
          <a:prstGeom prst="rect">
            <a:avLst/>
          </a:prstGeom>
        </p:spPr>
        <p:txBody>
          <a:bodyPr anchor="t" rtlCol="false" tIns="0" lIns="0" bIns="0" rIns="0">
            <a:spAutoFit/>
          </a:bodyPr>
          <a:lstStyle/>
          <a:p>
            <a:pPr algn="ctr">
              <a:lnSpc>
                <a:spcPts val="2860"/>
              </a:lnSpc>
            </a:pPr>
            <a:r>
              <a:rPr lang="en-US" b="true" sz="2600" spc="-78">
                <a:gradFill>
                  <a:gsLst>
                    <a:gs pos="0">
                      <a:srgbClr val="000000">
                        <a:alpha val="100000"/>
                      </a:srgbClr>
                    </a:gs>
                    <a:gs pos="100000">
                      <a:srgbClr val="3B3B3B">
                        <a:alpha val="100000"/>
                      </a:srgbClr>
                    </a:gs>
                  </a:gsLst>
                  <a:path path="circle">
                    <a:fillToRect l="0" r="100000" t="0" b="100000"/>
                  </a:path>
                  <a:tileRect r="0" l="-100000" b="0" t="-100000"/>
                </a:gradFill>
                <a:latin typeface="Arimo Bold"/>
                <a:ea typeface="Arimo Bold"/>
                <a:cs typeface="Arimo Bold"/>
                <a:sym typeface="Arimo Bold"/>
              </a:rPr>
              <a:t>SEARCHING DAN HASIL IMPLEMENTASI</a:t>
            </a:r>
          </a:p>
        </p:txBody>
      </p:sp>
      <p:sp>
        <p:nvSpPr>
          <p:cNvPr name="TextBox 19" id="19"/>
          <p:cNvSpPr txBox="true"/>
          <p:nvPr/>
        </p:nvSpPr>
        <p:spPr>
          <a:xfrm rot="0">
            <a:off x="1497250" y="4974196"/>
            <a:ext cx="15255209" cy="1050925"/>
          </a:xfrm>
          <a:prstGeom prst="rect">
            <a:avLst/>
          </a:prstGeom>
        </p:spPr>
        <p:txBody>
          <a:bodyPr anchor="t" rtlCol="false" tIns="0" lIns="0" bIns="0" rIns="0">
            <a:spAutoFit/>
          </a:bodyPr>
          <a:lstStyle/>
          <a:p>
            <a:pPr algn="just">
              <a:lnSpc>
                <a:spcPts val="2750"/>
              </a:lnSpc>
            </a:pPr>
            <a:r>
              <a:rPr lang="en-US" sz="2500" spc="-75">
                <a:solidFill>
                  <a:srgbClr val="FFFFFF"/>
                </a:solidFill>
                <a:latin typeface="Arimo"/>
                <a:ea typeface="Arimo"/>
                <a:cs typeface="Arimo"/>
                <a:sym typeface="Arimo"/>
              </a:rPr>
              <a:t>Program berhasil menerapkan struktur data Queue dengan prinsip FIFO (First In First Out). Seluruh fitur utama, yaitu menambah pelanggan (Enqueue), melayani pelanggan (Dequeue), dan menampilkan daftar antrean, berjalan sesuai dengan rancangan sistem.</a:t>
            </a:r>
          </a:p>
        </p:txBody>
      </p:sp>
      <p:sp>
        <p:nvSpPr>
          <p:cNvPr name="TextBox 20" id="20"/>
          <p:cNvSpPr txBox="true"/>
          <p:nvPr/>
        </p:nvSpPr>
        <p:spPr>
          <a:xfrm rot="0">
            <a:off x="1497250" y="7134201"/>
            <a:ext cx="15255209" cy="1050925"/>
          </a:xfrm>
          <a:prstGeom prst="rect">
            <a:avLst/>
          </a:prstGeom>
        </p:spPr>
        <p:txBody>
          <a:bodyPr anchor="t" rtlCol="false" tIns="0" lIns="0" bIns="0" rIns="0">
            <a:spAutoFit/>
          </a:bodyPr>
          <a:lstStyle/>
          <a:p>
            <a:pPr algn="just">
              <a:lnSpc>
                <a:spcPts val="2750"/>
              </a:lnSpc>
            </a:pPr>
            <a:r>
              <a:rPr lang="en-US" sz="2500" spc="-75">
                <a:solidFill>
                  <a:srgbClr val="FFFFFF"/>
                </a:solidFill>
                <a:latin typeface="Arimo"/>
                <a:ea typeface="Arimo"/>
                <a:cs typeface="Arimo"/>
                <a:sym typeface="Arimo"/>
              </a:rPr>
              <a:t>Fitur Sequential Searching berhasil menemukan data pelanggan berdasarkan nama tanpa membedakan huruf besar dan kecil. Secara keseluruhan, seluruh menu program berfungsi dengan baik sesuai analisis, perancangan, dan implementasi yang telah dibuat.</a:t>
            </a:r>
          </a:p>
        </p:txBody>
      </p:sp>
      <p:grpSp>
        <p:nvGrpSpPr>
          <p:cNvPr name="Group 21" id="21"/>
          <p:cNvGrpSpPr/>
          <p:nvPr/>
        </p:nvGrpSpPr>
        <p:grpSpPr>
          <a:xfrm rot="0">
            <a:off x="1028700" y="3092026"/>
            <a:ext cx="11585490" cy="744561"/>
            <a:chOff x="0" y="0"/>
            <a:chExt cx="4150427" cy="266734"/>
          </a:xfrm>
        </p:grpSpPr>
        <p:sp>
          <p:nvSpPr>
            <p:cNvPr name="Freeform 22" id="22"/>
            <p:cNvSpPr/>
            <p:nvPr/>
          </p:nvSpPr>
          <p:spPr>
            <a:xfrm flipH="false" flipV="false" rot="0">
              <a:off x="0" y="0"/>
              <a:ext cx="4150427" cy="266734"/>
            </a:xfrm>
            <a:custGeom>
              <a:avLst/>
              <a:gdLst/>
              <a:ahLst/>
              <a:cxnLst/>
              <a:rect r="r" b="b" t="t" l="l"/>
              <a:pathLst>
                <a:path h="266734" w="4150427">
                  <a:moveTo>
                    <a:pt x="14701" y="0"/>
                  </a:moveTo>
                  <a:lnTo>
                    <a:pt x="4135726" y="0"/>
                  </a:lnTo>
                  <a:cubicBezTo>
                    <a:pt x="4139625" y="0"/>
                    <a:pt x="4143364" y="1549"/>
                    <a:pt x="4146121" y="4306"/>
                  </a:cubicBezTo>
                  <a:cubicBezTo>
                    <a:pt x="4148879" y="7063"/>
                    <a:pt x="4150427" y="10802"/>
                    <a:pt x="4150427" y="14701"/>
                  </a:cubicBezTo>
                  <a:lnTo>
                    <a:pt x="4150427" y="252033"/>
                  </a:lnTo>
                  <a:cubicBezTo>
                    <a:pt x="4150427" y="255932"/>
                    <a:pt x="4148879" y="259671"/>
                    <a:pt x="4146121" y="262428"/>
                  </a:cubicBezTo>
                  <a:cubicBezTo>
                    <a:pt x="4143364" y="265185"/>
                    <a:pt x="4139625" y="266734"/>
                    <a:pt x="4135726" y="266734"/>
                  </a:cubicBezTo>
                  <a:lnTo>
                    <a:pt x="14701" y="266734"/>
                  </a:lnTo>
                  <a:cubicBezTo>
                    <a:pt x="10802" y="266734"/>
                    <a:pt x="7063" y="265185"/>
                    <a:pt x="4306" y="262428"/>
                  </a:cubicBezTo>
                  <a:cubicBezTo>
                    <a:pt x="1549" y="259671"/>
                    <a:pt x="0" y="255932"/>
                    <a:pt x="0" y="252033"/>
                  </a:cubicBezTo>
                  <a:lnTo>
                    <a:pt x="0" y="14701"/>
                  </a:lnTo>
                  <a:cubicBezTo>
                    <a:pt x="0" y="10802"/>
                    <a:pt x="1549" y="7063"/>
                    <a:pt x="4306" y="4306"/>
                  </a:cubicBezTo>
                  <a:cubicBezTo>
                    <a:pt x="7063" y="1549"/>
                    <a:pt x="10802" y="0"/>
                    <a:pt x="14701" y="0"/>
                  </a:cubicBezTo>
                  <a:close/>
                </a:path>
              </a:pathLst>
            </a:custGeom>
            <a:gradFill rotWithShape="true">
              <a:gsLst>
                <a:gs pos="0">
                  <a:srgbClr val="82FBFF">
                    <a:alpha val="100000"/>
                  </a:srgbClr>
                </a:gs>
                <a:gs pos="100000">
                  <a:srgbClr val="D1FEFF">
                    <a:alpha val="100000"/>
                  </a:srgbClr>
                </a:gs>
              </a:gsLst>
              <a:lin ang="0"/>
            </a:gradFill>
          </p:spPr>
        </p:sp>
        <p:sp>
          <p:nvSpPr>
            <p:cNvPr name="TextBox 23" id="23"/>
            <p:cNvSpPr txBox="true"/>
            <p:nvPr/>
          </p:nvSpPr>
          <p:spPr>
            <a:xfrm>
              <a:off x="0" y="-38100"/>
              <a:ext cx="4150427" cy="304834"/>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028700" y="3201640"/>
            <a:ext cx="11585490" cy="531178"/>
          </a:xfrm>
          <a:prstGeom prst="rect">
            <a:avLst/>
          </a:prstGeom>
        </p:spPr>
        <p:txBody>
          <a:bodyPr anchor="t" rtlCol="false" tIns="0" lIns="0" bIns="0" rIns="0">
            <a:spAutoFit/>
          </a:bodyPr>
          <a:lstStyle/>
          <a:p>
            <a:pPr algn="ctr">
              <a:lnSpc>
                <a:spcPts val="3932"/>
              </a:lnSpc>
            </a:pPr>
            <a:r>
              <a:rPr lang="en-US" b="true" sz="3575" spc="-107">
                <a:gradFill>
                  <a:gsLst>
                    <a:gs pos="0">
                      <a:srgbClr val="000000">
                        <a:alpha val="100000"/>
                      </a:srgbClr>
                    </a:gs>
                    <a:gs pos="100000">
                      <a:srgbClr val="3B3B3B">
                        <a:alpha val="100000"/>
                      </a:srgbClr>
                    </a:gs>
                  </a:gsLst>
                  <a:path path="circle">
                    <a:fillToRect l="0" r="100000" t="0" b="100000"/>
                  </a:path>
                  <a:tileRect r="0" l="-100000" b="0" t="-100000"/>
                </a:gradFill>
                <a:latin typeface="Arimo Bold"/>
                <a:ea typeface="Arimo Bold"/>
                <a:cs typeface="Arimo Bold"/>
                <a:sym typeface="Arimo Bold"/>
              </a:rPr>
              <a:t>PROJEK QUEUE DAN SEARCHING PADA KANTIN</a:t>
            </a:r>
          </a:p>
        </p:txBody>
      </p:sp>
      <p:sp>
        <p:nvSpPr>
          <p:cNvPr name="TextBox 25" id="25"/>
          <p:cNvSpPr txBox="true"/>
          <p:nvPr/>
        </p:nvSpPr>
        <p:spPr>
          <a:xfrm rot="0">
            <a:off x="1028700" y="2168549"/>
            <a:ext cx="11356594" cy="800195"/>
          </a:xfrm>
          <a:prstGeom prst="rect">
            <a:avLst/>
          </a:prstGeom>
        </p:spPr>
        <p:txBody>
          <a:bodyPr anchor="t" rtlCol="false" tIns="0" lIns="0" bIns="0" rIns="0">
            <a:spAutoFit/>
          </a:bodyPr>
          <a:lstStyle/>
          <a:p>
            <a:pPr algn="l">
              <a:lnSpc>
                <a:spcPts val="6003"/>
              </a:lnSpc>
            </a:pPr>
            <a:r>
              <a:rPr lang="en-US" b="true" sz="6003" spc="-180">
                <a:solidFill>
                  <a:srgbClr val="FFFFFF"/>
                </a:solidFill>
                <a:latin typeface="Oswald Bold"/>
                <a:ea typeface="Oswald Bold"/>
                <a:cs typeface="Oswald Bold"/>
                <a:sym typeface="Oswald Bold"/>
              </a:rPr>
              <a:t>KESIMPULAN</a:t>
            </a:r>
          </a:p>
        </p:txBody>
      </p:sp>
      <p:sp>
        <p:nvSpPr>
          <p:cNvPr name="Freeform 26" id="26"/>
          <p:cNvSpPr/>
          <p:nvPr/>
        </p:nvSpPr>
        <p:spPr>
          <a:xfrm flipH="false" flipV="false" rot="0">
            <a:off x="15889888" y="1028700"/>
            <a:ext cx="1369412" cy="1376923"/>
          </a:xfrm>
          <a:custGeom>
            <a:avLst/>
            <a:gdLst/>
            <a:ahLst/>
            <a:cxnLst/>
            <a:rect r="r" b="b" t="t" l="l"/>
            <a:pathLst>
              <a:path h="1376923" w="1369412">
                <a:moveTo>
                  <a:pt x="0" y="0"/>
                </a:moveTo>
                <a:lnTo>
                  <a:pt x="1369412" y="0"/>
                </a:lnTo>
                <a:lnTo>
                  <a:pt x="1369412" y="1376923"/>
                </a:lnTo>
                <a:lnTo>
                  <a:pt x="0" y="13769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4980994" y="1155195"/>
            <a:ext cx="1117803" cy="1123933"/>
          </a:xfrm>
          <a:custGeom>
            <a:avLst/>
            <a:gdLst/>
            <a:ahLst/>
            <a:cxnLst/>
            <a:rect r="r" b="b" t="t" l="l"/>
            <a:pathLst>
              <a:path h="1123933" w="1117803">
                <a:moveTo>
                  <a:pt x="0" y="0"/>
                </a:moveTo>
                <a:lnTo>
                  <a:pt x="1117803" y="0"/>
                </a:lnTo>
                <a:lnTo>
                  <a:pt x="1117803" y="1123933"/>
                </a:lnTo>
                <a:lnTo>
                  <a:pt x="0" y="112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028700" y="8942349"/>
            <a:ext cx="5036894" cy="631901"/>
          </a:xfrm>
          <a:custGeom>
            <a:avLst/>
            <a:gdLst/>
            <a:ahLst/>
            <a:cxnLst/>
            <a:rect r="r" b="b" t="t" l="l"/>
            <a:pathLst>
              <a:path h="631901" w="5036894">
                <a:moveTo>
                  <a:pt x="0" y="0"/>
                </a:moveTo>
                <a:lnTo>
                  <a:pt x="5036894" y="0"/>
                </a:lnTo>
                <a:lnTo>
                  <a:pt x="5036894" y="631902"/>
                </a:lnTo>
                <a:lnTo>
                  <a:pt x="0" y="6319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9" id="29"/>
          <p:cNvGrpSpPr/>
          <p:nvPr/>
        </p:nvGrpSpPr>
        <p:grpSpPr>
          <a:xfrm rot="0">
            <a:off x="211536" y="241100"/>
            <a:ext cx="9115485" cy="787600"/>
            <a:chOff x="0" y="0"/>
            <a:chExt cx="12153979" cy="1050133"/>
          </a:xfrm>
        </p:grpSpPr>
        <p:sp>
          <p:nvSpPr>
            <p:cNvPr name="Freeform 30" id="30"/>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8"/>
              <a:stretch>
                <a:fillRect l="0" t="0" r="0" b="0"/>
              </a:stretch>
            </a:blipFill>
          </p:spPr>
        </p:sp>
        <p:sp>
          <p:nvSpPr>
            <p:cNvPr name="TextBox 31" id="31"/>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78B">
                <a:alpha val="100000"/>
              </a:srgbClr>
            </a:gs>
            <a:gs pos="100000">
              <a:srgbClr val="001C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true" rot="0">
            <a:off x="0" y="8386446"/>
            <a:ext cx="4378275" cy="3295647"/>
          </a:xfrm>
          <a:custGeom>
            <a:avLst/>
            <a:gdLst/>
            <a:ahLst/>
            <a:cxnLst/>
            <a:rect r="r" b="b" t="t" l="l"/>
            <a:pathLst>
              <a:path h="3295647" w="4378275">
                <a:moveTo>
                  <a:pt x="0" y="3295647"/>
                </a:moveTo>
                <a:lnTo>
                  <a:pt x="4378275" y="3295647"/>
                </a:lnTo>
                <a:lnTo>
                  <a:pt x="4378275" y="0"/>
                </a:lnTo>
                <a:lnTo>
                  <a:pt x="0" y="0"/>
                </a:lnTo>
                <a:lnTo>
                  <a:pt x="0" y="3295647"/>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1028700" y="1468864"/>
            <a:ext cx="2577846" cy="1159179"/>
            <a:chOff x="0" y="0"/>
            <a:chExt cx="3437128" cy="1545572"/>
          </a:xfrm>
        </p:grpSpPr>
        <p:sp>
          <p:nvSpPr>
            <p:cNvPr name="Freeform 4" id="4"/>
            <p:cNvSpPr/>
            <p:nvPr/>
          </p:nvSpPr>
          <p:spPr>
            <a:xfrm flipH="false" flipV="false" rot="0">
              <a:off x="1899986" y="0"/>
              <a:ext cx="1537142" cy="1545572"/>
            </a:xfrm>
            <a:custGeom>
              <a:avLst/>
              <a:gdLst/>
              <a:ahLst/>
              <a:cxnLst/>
              <a:rect r="r" b="b" t="t" l="l"/>
              <a:pathLst>
                <a:path h="1545572" w="1537142">
                  <a:moveTo>
                    <a:pt x="0" y="0"/>
                  </a:moveTo>
                  <a:lnTo>
                    <a:pt x="1537142" y="0"/>
                  </a:lnTo>
                  <a:lnTo>
                    <a:pt x="1537142" y="1545572"/>
                  </a:lnTo>
                  <a:lnTo>
                    <a:pt x="0" y="1545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79768" y="141988"/>
              <a:ext cx="1254715" cy="1261596"/>
            </a:xfrm>
            <a:custGeom>
              <a:avLst/>
              <a:gdLst/>
              <a:ahLst/>
              <a:cxnLst/>
              <a:rect r="r" b="b" t="t" l="l"/>
              <a:pathLst>
                <a:path h="1261596" w="1254715">
                  <a:moveTo>
                    <a:pt x="0" y="0"/>
                  </a:moveTo>
                  <a:lnTo>
                    <a:pt x="1254715" y="0"/>
                  </a:lnTo>
                  <a:lnTo>
                    <a:pt x="1254715" y="1261596"/>
                  </a:lnTo>
                  <a:lnTo>
                    <a:pt x="0" y="1261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248122"/>
              <a:ext cx="1043604" cy="1049327"/>
            </a:xfrm>
            <a:custGeom>
              <a:avLst/>
              <a:gdLst/>
              <a:ahLst/>
              <a:cxnLst/>
              <a:rect r="r" b="b" t="t" l="l"/>
              <a:pathLst>
                <a:path h="1049327" w="1043604">
                  <a:moveTo>
                    <a:pt x="0" y="0"/>
                  </a:moveTo>
                  <a:lnTo>
                    <a:pt x="1043604" y="0"/>
                  </a:lnTo>
                  <a:lnTo>
                    <a:pt x="1043604" y="1049328"/>
                  </a:lnTo>
                  <a:lnTo>
                    <a:pt x="0" y="10493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13144500" y="0"/>
            <a:ext cx="10287000" cy="102870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C47">
                    <a:alpha val="100000"/>
                  </a:srgbClr>
                </a:gs>
                <a:gs pos="100000">
                  <a:srgbClr val="00378B">
                    <a:alpha val="100000"/>
                  </a:srgbClr>
                </a:gs>
              </a:gsLst>
              <a:path path="circle">
                <a:fillToRect l="0" r="100000" t="0" b="100000"/>
              </a:path>
              <a:tileRect r="0" l="-100000" b="0" t="-10000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2157064" y="-1486756"/>
            <a:ext cx="5466522" cy="4114800"/>
          </a:xfrm>
          <a:custGeom>
            <a:avLst/>
            <a:gdLst/>
            <a:ahLst/>
            <a:cxnLst/>
            <a:rect r="r" b="b" t="t" l="l"/>
            <a:pathLst>
              <a:path h="4114800" w="5466522">
                <a:moveTo>
                  <a:pt x="0" y="0"/>
                </a:moveTo>
                <a:lnTo>
                  <a:pt x="5466521" y="0"/>
                </a:lnTo>
                <a:lnTo>
                  <a:pt x="546652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9944100" y="7927583"/>
            <a:ext cx="7315200" cy="917725"/>
          </a:xfrm>
          <a:custGeom>
            <a:avLst/>
            <a:gdLst/>
            <a:ahLst/>
            <a:cxnLst/>
            <a:rect r="r" b="b" t="t" l="l"/>
            <a:pathLst>
              <a:path h="917725" w="7315200">
                <a:moveTo>
                  <a:pt x="7315200" y="0"/>
                </a:moveTo>
                <a:lnTo>
                  <a:pt x="0" y="0"/>
                </a:lnTo>
                <a:lnTo>
                  <a:pt x="0" y="917725"/>
                </a:lnTo>
                <a:lnTo>
                  <a:pt x="7315200" y="917725"/>
                </a:lnTo>
                <a:lnTo>
                  <a:pt x="73152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2393213" y="6027309"/>
            <a:ext cx="5894787" cy="1661258"/>
          </a:xfrm>
          <a:custGeom>
            <a:avLst/>
            <a:gdLst/>
            <a:ahLst/>
            <a:cxnLst/>
            <a:rect r="r" b="b" t="t" l="l"/>
            <a:pathLst>
              <a:path h="1661258" w="5894787">
                <a:moveTo>
                  <a:pt x="0" y="0"/>
                </a:moveTo>
                <a:lnTo>
                  <a:pt x="5894787" y="0"/>
                </a:lnTo>
                <a:lnTo>
                  <a:pt x="5894787" y="1661258"/>
                </a:lnTo>
                <a:lnTo>
                  <a:pt x="0" y="16612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1028700" y="4361022"/>
            <a:ext cx="12097653" cy="780756"/>
          </a:xfrm>
          <a:prstGeom prst="rect">
            <a:avLst/>
          </a:prstGeom>
        </p:spPr>
        <p:txBody>
          <a:bodyPr anchor="t" rtlCol="false" tIns="0" lIns="0" bIns="0" rIns="0">
            <a:spAutoFit/>
          </a:bodyPr>
          <a:lstStyle/>
          <a:p>
            <a:pPr algn="l">
              <a:lnSpc>
                <a:spcPts val="5826"/>
              </a:lnSpc>
            </a:pPr>
            <a:r>
              <a:rPr lang="en-US" b="true" sz="5826" spc="-174">
                <a:solidFill>
                  <a:srgbClr val="FFFFFF"/>
                </a:solidFill>
                <a:latin typeface="Oswald Bold"/>
                <a:ea typeface="Oswald Bold"/>
                <a:cs typeface="Oswald Bold"/>
                <a:sym typeface="Oswald Bold"/>
              </a:rPr>
              <a:t>K</a:t>
            </a:r>
            <a:r>
              <a:rPr lang="en-US" b="true" sz="5826" spc="-174">
                <a:solidFill>
                  <a:srgbClr val="FFFFFF"/>
                </a:solidFill>
                <a:latin typeface="Oswald Bold"/>
                <a:ea typeface="Oswald Bold"/>
                <a:cs typeface="Oswald Bold"/>
                <a:sym typeface="Oswald Bold"/>
              </a:rPr>
              <a:t>AMI MENGHARGAI WAKTU DAN</a:t>
            </a:r>
          </a:p>
        </p:txBody>
      </p:sp>
      <p:sp>
        <p:nvSpPr>
          <p:cNvPr name="TextBox 14" id="14"/>
          <p:cNvSpPr txBox="true"/>
          <p:nvPr/>
        </p:nvSpPr>
        <p:spPr>
          <a:xfrm rot="0">
            <a:off x="1028700" y="5246553"/>
            <a:ext cx="11845620" cy="780756"/>
          </a:xfrm>
          <a:prstGeom prst="rect">
            <a:avLst/>
          </a:prstGeom>
        </p:spPr>
        <p:txBody>
          <a:bodyPr anchor="t" rtlCol="false" tIns="0" lIns="0" bIns="0" rIns="0">
            <a:spAutoFit/>
          </a:bodyPr>
          <a:lstStyle/>
          <a:p>
            <a:pPr algn="l">
              <a:lnSpc>
                <a:spcPts val="5826"/>
              </a:lnSpc>
            </a:pPr>
            <a:r>
              <a:rPr lang="en-US" b="true" sz="5826" spc="-174">
                <a:solidFill>
                  <a:srgbClr val="FFFFFF"/>
                </a:solidFill>
                <a:latin typeface="Oswald Bold"/>
                <a:ea typeface="Oswald Bold"/>
                <a:cs typeface="Oswald Bold"/>
                <a:sym typeface="Oswald Bold"/>
              </a:rPr>
              <a:t>P</a:t>
            </a:r>
            <a:r>
              <a:rPr lang="en-US" b="true" sz="5826" spc="-174">
                <a:solidFill>
                  <a:srgbClr val="FFFFFF"/>
                </a:solidFill>
                <a:latin typeface="Oswald Bold"/>
                <a:ea typeface="Oswald Bold"/>
                <a:cs typeface="Oswald Bold"/>
                <a:sym typeface="Oswald Bold"/>
              </a:rPr>
              <a:t>ERHATIAN ANDA PADA PRESENTASI</a:t>
            </a:r>
          </a:p>
        </p:txBody>
      </p:sp>
      <p:sp>
        <p:nvSpPr>
          <p:cNvPr name="TextBox 15" id="15"/>
          <p:cNvSpPr txBox="true"/>
          <p:nvPr/>
        </p:nvSpPr>
        <p:spPr>
          <a:xfrm rot="0">
            <a:off x="1028700" y="6132084"/>
            <a:ext cx="11845620" cy="780756"/>
          </a:xfrm>
          <a:prstGeom prst="rect">
            <a:avLst/>
          </a:prstGeom>
        </p:spPr>
        <p:txBody>
          <a:bodyPr anchor="t" rtlCol="false" tIns="0" lIns="0" bIns="0" rIns="0">
            <a:spAutoFit/>
          </a:bodyPr>
          <a:lstStyle/>
          <a:p>
            <a:pPr algn="l">
              <a:lnSpc>
                <a:spcPts val="5826"/>
              </a:lnSpc>
            </a:pPr>
            <a:r>
              <a:rPr lang="en-US" b="true" sz="5826" spc="-174">
                <a:solidFill>
                  <a:srgbClr val="FFFFFF"/>
                </a:solidFill>
                <a:latin typeface="Oswald Bold"/>
                <a:ea typeface="Oswald Bold"/>
                <a:cs typeface="Oswald Bold"/>
                <a:sym typeface="Oswald Bold"/>
              </a:rPr>
              <a:t>PROY</a:t>
            </a:r>
            <a:r>
              <a:rPr lang="en-US" b="true" sz="5826" spc="-174">
                <a:solidFill>
                  <a:srgbClr val="FFFFFF"/>
                </a:solidFill>
                <a:latin typeface="Oswald Bold"/>
                <a:ea typeface="Oswald Bold"/>
                <a:cs typeface="Oswald Bold"/>
                <a:sym typeface="Oswald Bold"/>
              </a:rPr>
              <a:t>EK UJIAN AKHIR SEMESTER INI</a:t>
            </a:r>
          </a:p>
        </p:txBody>
      </p:sp>
      <p:sp>
        <p:nvSpPr>
          <p:cNvPr name="TextBox 16" id="16"/>
          <p:cNvSpPr txBox="true"/>
          <p:nvPr/>
        </p:nvSpPr>
        <p:spPr>
          <a:xfrm rot="0">
            <a:off x="1028700" y="3034111"/>
            <a:ext cx="12097653" cy="1331959"/>
          </a:xfrm>
          <a:prstGeom prst="rect">
            <a:avLst/>
          </a:prstGeom>
        </p:spPr>
        <p:txBody>
          <a:bodyPr anchor="t" rtlCol="false" tIns="0" lIns="0" bIns="0" rIns="0">
            <a:spAutoFit/>
          </a:bodyPr>
          <a:lstStyle/>
          <a:p>
            <a:pPr algn="l">
              <a:lnSpc>
                <a:spcPts val="9966"/>
              </a:lnSpc>
            </a:pPr>
            <a:r>
              <a:rPr lang="en-US" b="true" sz="9966" spc="-298">
                <a:gradFill>
                  <a:gsLst>
                    <a:gs pos="0">
                      <a:srgbClr val="82FBFF">
                        <a:alpha val="100000"/>
                      </a:srgbClr>
                    </a:gs>
                    <a:gs pos="100000">
                      <a:srgbClr val="D1FEFF">
                        <a:alpha val="100000"/>
                      </a:srgbClr>
                    </a:gs>
                  </a:gsLst>
                  <a:lin ang="0"/>
                </a:gradFill>
                <a:latin typeface="Oswald Bold"/>
                <a:ea typeface="Oswald Bold"/>
                <a:cs typeface="Oswald Bold"/>
                <a:sym typeface="Oswald Bold"/>
              </a:rPr>
              <a:t>TERIMA KASIH</a:t>
            </a:r>
          </a:p>
        </p:txBody>
      </p:sp>
      <p:grpSp>
        <p:nvGrpSpPr>
          <p:cNvPr name="Group 17" id="17"/>
          <p:cNvGrpSpPr/>
          <p:nvPr/>
        </p:nvGrpSpPr>
        <p:grpSpPr>
          <a:xfrm rot="0">
            <a:off x="211536" y="241100"/>
            <a:ext cx="9115485" cy="787600"/>
            <a:chOff x="0" y="0"/>
            <a:chExt cx="12153979" cy="1050133"/>
          </a:xfrm>
        </p:grpSpPr>
        <p:sp>
          <p:nvSpPr>
            <p:cNvPr name="Freeform 18" id="18"/>
            <p:cNvSpPr/>
            <p:nvPr/>
          </p:nvSpPr>
          <p:spPr>
            <a:xfrm flipH="false" flipV="false" rot="0">
              <a:off x="0" y="0"/>
              <a:ext cx="1547250" cy="1050133"/>
            </a:xfrm>
            <a:custGeom>
              <a:avLst/>
              <a:gdLst/>
              <a:ahLst/>
              <a:cxnLst/>
              <a:rect r="r" b="b" t="t" l="l"/>
              <a:pathLst>
                <a:path h="1050133" w="1547250">
                  <a:moveTo>
                    <a:pt x="0" y="0"/>
                  </a:moveTo>
                  <a:lnTo>
                    <a:pt x="1547250" y="0"/>
                  </a:lnTo>
                  <a:lnTo>
                    <a:pt x="1547250" y="1050133"/>
                  </a:lnTo>
                  <a:lnTo>
                    <a:pt x="0" y="1050133"/>
                  </a:lnTo>
                  <a:lnTo>
                    <a:pt x="0" y="0"/>
                  </a:lnTo>
                  <a:close/>
                </a:path>
              </a:pathLst>
            </a:custGeom>
            <a:blipFill>
              <a:blip r:embed="rId12"/>
              <a:stretch>
                <a:fillRect l="0" t="0" r="0" b="0"/>
              </a:stretch>
            </a:blipFill>
          </p:spPr>
        </p:sp>
        <p:sp>
          <p:nvSpPr>
            <p:cNvPr name="TextBox 19" id="19"/>
            <p:cNvSpPr txBox="true"/>
            <p:nvPr/>
          </p:nvSpPr>
          <p:spPr>
            <a:xfrm rot="0">
              <a:off x="1834295" y="270435"/>
              <a:ext cx="10319685" cy="566413"/>
            </a:xfrm>
            <a:prstGeom prst="rect">
              <a:avLst/>
            </a:prstGeom>
          </p:spPr>
          <p:txBody>
            <a:bodyPr anchor="t" rtlCol="false" tIns="0" lIns="0" bIns="0" rIns="0">
              <a:spAutoFit/>
            </a:bodyPr>
            <a:lstStyle/>
            <a:p>
              <a:pPr algn="l">
                <a:lnSpc>
                  <a:spcPts val="3098"/>
                </a:lnSpc>
              </a:pPr>
              <a:r>
                <a:rPr lang="en-US" sz="3098" spc="-92">
                  <a:solidFill>
                    <a:srgbClr val="FFFFFF"/>
                  </a:solidFill>
                  <a:latin typeface="Oswald"/>
                  <a:ea typeface="Oswald"/>
                  <a:cs typeface="Oswald"/>
                  <a:sym typeface="Oswald"/>
                </a:rPr>
                <a:t>POLITEKNIK MANUFAKTUR NEGERI BANGKA BELITUNG</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DAHOUwpKS00</dc:identifier>
  <dcterms:modified xsi:type="dcterms:W3CDTF">2011-08-01T06:04:30Z</dcterms:modified>
  <cp:revision>1</cp:revision>
  <dc:title>Projek Queue dan Searching - Kelompok 3 Struktur Data</dc:title>
</cp:coreProperties>
</file>